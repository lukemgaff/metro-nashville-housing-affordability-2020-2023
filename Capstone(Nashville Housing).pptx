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5" r:id="rId4"/>
    <p:sldId id="278" r:id="rId5"/>
    <p:sldId id="277" r:id="rId6"/>
    <p:sldId id="280" r:id="rId7"/>
    <p:sldId id="282" r:id="rId8"/>
    <p:sldId id="283" r:id="rId9"/>
    <p:sldId id="284" r:id="rId10"/>
    <p:sldId id="288" r:id="rId11"/>
    <p:sldId id="287" r:id="rId12"/>
    <p:sldId id="286" r:id="rId13"/>
    <p:sldId id="28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AAAABC-7ED1-423C-A583-47F1ED742B4D}" v="56" dt="2025-12-16T21:04:26.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05" autoAdjust="0"/>
    <p:restoredTop sz="94660"/>
  </p:normalViewPr>
  <p:slideViewPr>
    <p:cSldViewPr snapToGrid="0">
      <p:cViewPr varScale="1">
        <p:scale>
          <a:sx n="142" d="100"/>
          <a:sy n="142" d="100"/>
        </p:scale>
        <p:origin x="3534"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38B0-975D-31C0-7BD2-130C24543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B2F58E-52D2-45F0-509A-3E4302E780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F3F032-6152-B5C7-54EF-7EB35DF144E5}"/>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2E7E7F83-9F97-0164-4B11-1CACCD45E8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8B827-DA72-76BF-61CA-181EA87576EF}"/>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486602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0E89-F670-4E88-3E52-1AA9D7600C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1374FA-5609-F22E-26ED-7885D3E35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C0E74-7F8C-66C3-FE01-9E3D2BA99CDF}"/>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43335726-2349-EDE0-794B-25EA1D3044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811528-EF31-3213-AA8C-2CD786F52F19}"/>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05867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2E8B-C2FA-9286-E03F-5062DD039F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CE3503-19AF-41A1-092B-60F71F8E3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6C9196-F250-9AC7-C084-0C296B6EF68A}"/>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A342C2E2-AADD-09B1-ECA7-26C53131CE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16FFD7-1E59-034B-3879-28E65E068368}"/>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488502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F1EF4-8D70-0817-DB5C-3369F32DC3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4E66F9-EA1A-E713-1129-AFC0F085A6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926150-237C-07E5-F4DF-E50753C097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AFE979-9992-5F31-187A-84483C24E7B9}"/>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6" name="Footer Placeholder 5">
            <a:extLst>
              <a:ext uri="{FF2B5EF4-FFF2-40B4-BE49-F238E27FC236}">
                <a16:creationId xmlns:a16="http://schemas.microsoft.com/office/drawing/2014/main" id="{2BF4108E-06EC-7DFA-4CBF-53D7FD7424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67EB0-7D64-B128-A285-B64767E10996}"/>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4057712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DE9BF-D271-59F7-CDC8-4BB6BA8E31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A5B08-8F08-2CB9-0A59-F064AB3718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89D034-3EF6-034B-72C7-61C65E3C63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3EFCF9-610A-FF4B-3D06-FF194B3FE9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5A1D2C-24CF-3533-0350-AAAEFC0537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9B8B4-32D6-2982-33F4-7DBAB725FAE0}"/>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8" name="Footer Placeholder 7">
            <a:extLst>
              <a:ext uri="{FF2B5EF4-FFF2-40B4-BE49-F238E27FC236}">
                <a16:creationId xmlns:a16="http://schemas.microsoft.com/office/drawing/2014/main" id="{7D85D933-EB9E-64DD-6AC4-6BF2DE1E16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91474B-D526-55B5-F8D0-D4D9A6659C04}"/>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61250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85F02-4A00-FEEB-7401-29905178EF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0F79DE-8C6C-EBEE-AFF4-6600C380058F}"/>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4" name="Footer Placeholder 3">
            <a:extLst>
              <a:ext uri="{FF2B5EF4-FFF2-40B4-BE49-F238E27FC236}">
                <a16:creationId xmlns:a16="http://schemas.microsoft.com/office/drawing/2014/main" id="{BE0FCE67-FA2B-D1B0-BEA5-0689789FE1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48475D-4CAA-3871-ACB6-754155DC20ED}"/>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333160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CEDD4-C8B3-C0CA-26ED-C549B6235587}"/>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3" name="Footer Placeholder 2">
            <a:extLst>
              <a:ext uri="{FF2B5EF4-FFF2-40B4-BE49-F238E27FC236}">
                <a16:creationId xmlns:a16="http://schemas.microsoft.com/office/drawing/2014/main" id="{28BF2656-8F73-2AB9-3AEC-9B2747D779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F3B3B3-4FC1-AC29-C7E4-5BADB03A3DCD}"/>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96777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70B3-B4BA-AA12-3A32-39FA11E783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7F0DEE-D2DF-E961-7282-0BC2D8876E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41A205-AEB8-D897-5F94-1F12E34DB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9DFE46-2C9B-35D2-D243-72709CB269DF}"/>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6" name="Footer Placeholder 5">
            <a:extLst>
              <a:ext uri="{FF2B5EF4-FFF2-40B4-BE49-F238E27FC236}">
                <a16:creationId xmlns:a16="http://schemas.microsoft.com/office/drawing/2014/main" id="{B990FAE4-F8DC-58C1-5838-5C112BAF5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D44D7A-A481-B793-36EB-93C2ED894824}"/>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099186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D6C8-EB4E-48A1-5CE6-DCC89B514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7E20E6-9043-9EF1-69FA-9C08F6DA6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5E99AC-2F15-B873-7B49-AF750FA78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1D3D93-B00E-2BF1-1322-CA8D92BDDEF4}"/>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6" name="Footer Placeholder 5">
            <a:extLst>
              <a:ext uri="{FF2B5EF4-FFF2-40B4-BE49-F238E27FC236}">
                <a16:creationId xmlns:a16="http://schemas.microsoft.com/office/drawing/2014/main" id="{878AE80E-3BF8-3895-DA76-0D4FC1B36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F440E-A6AE-421F-F21A-9158F42A602E}"/>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588069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09D6A-55E4-E96B-7AAA-490E4B1124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28C3DA-E907-7104-FC2F-822FCB6645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983F7-1A60-ABE5-F5C4-3FAEC5EFB796}"/>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B67EBBF6-4A85-99DB-669A-17849C39F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ED123-26C9-DDE2-9767-83C6171D943A}"/>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483938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5208DA-23A1-B2DA-EAB5-C1FC20091E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3F736D-53B1-AB46-2B66-10E5DDDCC0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67765-E2E5-DB5D-13F8-0B11DEC18E89}"/>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EA3220CA-D52F-3532-C9DE-B094EED30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3457A-AA84-4CD3-FCAD-F750DEFB9C73}"/>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25898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0FFFA7-441F-50E1-A716-AC6833AAAB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1FB9B9-FF4D-9244-1F7D-98F874CA9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99808-6845-39EA-3256-B3F6ED28A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28CE2A96-42F0-C2EA-1D5D-2AB730FB5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7B05EC-6F7A-BC17-BDEC-FF9652A1F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CD607A-72E9-4BF2-9356-F51220A4424A}" type="slidenum">
              <a:rPr lang="en-US" smtClean="0"/>
              <a:t>‹#›</a:t>
            </a:fld>
            <a:endParaRPr lang="en-US"/>
          </a:p>
        </p:txBody>
      </p:sp>
    </p:spTree>
    <p:extLst>
      <p:ext uri="{BB962C8B-B14F-4D97-AF65-F5344CB8AC3E}">
        <p14:creationId xmlns:p14="http://schemas.microsoft.com/office/powerpoint/2010/main" val="1287794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71A2F-1D02-6452-5157-8CB541F3456A}"/>
              </a:ext>
            </a:extLst>
          </p:cNvPr>
          <p:cNvSpPr>
            <a:spLocks noGrp="1"/>
          </p:cNvSpPr>
          <p:nvPr>
            <p:ph type="ctrTitle"/>
          </p:nvPr>
        </p:nvSpPr>
        <p:spPr>
          <a:xfrm>
            <a:off x="4572000" y="1298737"/>
            <a:ext cx="6251110" cy="2902077"/>
          </a:xfrm>
        </p:spPr>
        <p:txBody>
          <a:bodyPr anchor="b">
            <a:normAutofit/>
          </a:bodyPr>
          <a:lstStyle/>
          <a:p>
            <a:r>
              <a:rPr lang="en-US" sz="4400" dirty="0"/>
              <a:t>Housing Affordability in Metro Nashville During a Period of Market Disruption (2020–2023)</a:t>
            </a:r>
          </a:p>
        </p:txBody>
      </p:sp>
      <p:sp>
        <p:nvSpPr>
          <p:cNvPr id="3" name="Subtitle 2">
            <a:extLst>
              <a:ext uri="{FF2B5EF4-FFF2-40B4-BE49-F238E27FC236}">
                <a16:creationId xmlns:a16="http://schemas.microsoft.com/office/drawing/2014/main" id="{FB4789A9-F273-59F1-B441-515130EFAB92}"/>
              </a:ext>
            </a:extLst>
          </p:cNvPr>
          <p:cNvSpPr>
            <a:spLocks noGrp="1"/>
          </p:cNvSpPr>
          <p:nvPr>
            <p:ph type="subTitle" idx="1"/>
          </p:nvPr>
        </p:nvSpPr>
        <p:spPr>
          <a:xfrm>
            <a:off x="5381626" y="4617720"/>
            <a:ext cx="4655865" cy="355092"/>
          </a:xfrm>
        </p:spPr>
        <p:txBody>
          <a:bodyPr>
            <a:normAutofit lnSpcReduction="10000"/>
          </a:bodyPr>
          <a:lstStyle/>
          <a:p>
            <a:pPr algn="l"/>
            <a:r>
              <a:rPr lang="en-US" sz="2000" dirty="0"/>
              <a:t>Luke Gaffney | DDA17 Capstone Project</a:t>
            </a:r>
          </a:p>
          <a:p>
            <a:pPr algn="l"/>
            <a:endParaRPr lang="en-US" dirty="0"/>
          </a:p>
        </p:txBody>
      </p:sp>
      <p:pic>
        <p:nvPicPr>
          <p:cNvPr id="5" name="Picture 4" descr="Houses in a subdivision">
            <a:extLst>
              <a:ext uri="{FF2B5EF4-FFF2-40B4-BE49-F238E27FC236}">
                <a16:creationId xmlns:a16="http://schemas.microsoft.com/office/drawing/2014/main" id="{F2BEEBFA-CA17-EDF1-8619-5BB733B403C6}"/>
              </a:ext>
            </a:extLst>
          </p:cNvPr>
          <p:cNvPicPr>
            <a:picLocks noChangeAspect="1"/>
          </p:cNvPicPr>
          <p:nvPr/>
        </p:nvPicPr>
        <p:blipFill>
          <a:blip r:embed="rId2"/>
          <a:srcRect l="33472" r="21197" b="-1"/>
          <a:stretch>
            <a:fillRect/>
          </a:stretch>
        </p:blipFill>
        <p:spPr>
          <a:xfrm>
            <a:off x="1" y="10"/>
            <a:ext cx="4571999"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1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9FC05C-E79A-F5B5-327B-29607701820D}"/>
              </a:ext>
            </a:extLst>
          </p:cNvPr>
          <p:cNvSpPr>
            <a:spLocks noGrp="1"/>
          </p:cNvSpPr>
          <p:nvPr>
            <p:ph type="title"/>
          </p:nvPr>
        </p:nvSpPr>
        <p:spPr>
          <a:xfrm>
            <a:off x="841248" y="548640"/>
            <a:ext cx="3600860" cy="5431536"/>
          </a:xfrm>
        </p:spPr>
        <p:txBody>
          <a:bodyPr>
            <a:normAutofit/>
          </a:bodyPr>
          <a:lstStyle/>
          <a:p>
            <a:pPr algn="ctr"/>
            <a:r>
              <a:rPr lang="en-US" dirty="0"/>
              <a:t>Purpose of this Analysis</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5E1C994-818C-0ACC-C41E-5E01DA946D82}"/>
              </a:ext>
            </a:extLst>
          </p:cNvPr>
          <p:cNvSpPr txBox="1"/>
          <p:nvPr/>
        </p:nvSpPr>
        <p:spPr>
          <a:xfrm>
            <a:off x="5197631" y="2084469"/>
            <a:ext cx="6403552"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Examine changes in housing affordability in Metro Nashville from 2020–2023</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Evaluate the roles of home prices, income, housing supply, and mortgage rates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Identify whether affordability impacts differed across ZIP codes</a:t>
            </a:r>
          </a:p>
        </p:txBody>
      </p:sp>
    </p:spTree>
    <p:extLst>
      <p:ext uri="{BB962C8B-B14F-4D97-AF65-F5344CB8AC3E}">
        <p14:creationId xmlns:p14="http://schemas.microsoft.com/office/powerpoint/2010/main" val="3484887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F011FB-0361-81F1-A411-48E3B66109D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D2D996-43B4-913B-F7DD-59EA7C708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9B228D7-8329-3F75-828E-FC46FA1AD6D9}"/>
              </a:ext>
            </a:extLst>
          </p:cNvPr>
          <p:cNvSpPr>
            <a:spLocks noGrp="1"/>
          </p:cNvSpPr>
          <p:nvPr>
            <p:ph type="title"/>
          </p:nvPr>
        </p:nvSpPr>
        <p:spPr>
          <a:xfrm>
            <a:off x="841248" y="548640"/>
            <a:ext cx="3600860" cy="5431536"/>
          </a:xfrm>
        </p:spPr>
        <p:txBody>
          <a:bodyPr>
            <a:normAutofit/>
          </a:bodyPr>
          <a:lstStyle/>
          <a:p>
            <a:pPr algn="ctr"/>
            <a:r>
              <a:rPr lang="en-US" dirty="0"/>
              <a:t>Research Questions</a:t>
            </a:r>
          </a:p>
        </p:txBody>
      </p:sp>
      <p:sp>
        <p:nvSpPr>
          <p:cNvPr id="12" name="sketch line">
            <a:extLst>
              <a:ext uri="{FF2B5EF4-FFF2-40B4-BE49-F238E27FC236}">
                <a16:creationId xmlns:a16="http://schemas.microsoft.com/office/drawing/2014/main" id="{836549C7-EDAA-8C20-68F5-F3CDC5C14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45E13C00-C4B2-AC65-DFCC-5BF7B4C0D768}"/>
              </a:ext>
            </a:extLst>
          </p:cNvPr>
          <p:cNvSpPr>
            <a:spLocks noGrp="1"/>
          </p:cNvSpPr>
          <p:nvPr>
            <p:ph idx="1"/>
          </p:nvPr>
        </p:nvSpPr>
        <p:spPr>
          <a:xfrm>
            <a:off x="5126418" y="552091"/>
            <a:ext cx="6224335" cy="5431536"/>
          </a:xfrm>
        </p:spPr>
        <p:txBody>
          <a:bodyPr anchor="ctr">
            <a:normAutofit/>
          </a:bodyPr>
          <a:lstStyle/>
          <a:p>
            <a:endParaRPr lang="en-US" sz="1900" dirty="0"/>
          </a:p>
          <a:p>
            <a:pPr marL="0" indent="0">
              <a:buNone/>
            </a:pPr>
            <a:endParaRPr lang="en-US" sz="1900" dirty="0">
              <a:latin typeface="Calibri" panose="020F0502020204030204" pitchFamily="34" charset="0"/>
              <a:ea typeface="Calibri" panose="020F0502020204030204" pitchFamily="34" charset="0"/>
            </a:endParaRPr>
          </a:p>
          <a:p>
            <a:endParaRPr lang="en-US" sz="1900" dirty="0"/>
          </a:p>
        </p:txBody>
      </p:sp>
      <p:sp>
        <p:nvSpPr>
          <p:cNvPr id="4" name="TextBox 3">
            <a:extLst>
              <a:ext uri="{FF2B5EF4-FFF2-40B4-BE49-F238E27FC236}">
                <a16:creationId xmlns:a16="http://schemas.microsoft.com/office/drawing/2014/main" id="{337C5CAA-78BD-6151-0CC5-8CA452F48391}"/>
              </a:ext>
            </a:extLst>
          </p:cNvPr>
          <p:cNvSpPr txBox="1"/>
          <p:nvPr/>
        </p:nvSpPr>
        <p:spPr>
          <a:xfrm>
            <a:off x="5280212" y="874373"/>
            <a:ext cx="6403552" cy="5355312"/>
          </a:xfrm>
          <a:prstGeom prst="rect">
            <a:avLst/>
          </a:prstGeom>
          <a:noFill/>
        </p:spPr>
        <p:txBody>
          <a:bodyPr wrap="square" rtlCol="0">
            <a:spAutoFit/>
          </a:bodyPr>
          <a:lstStyle/>
          <a:p>
            <a:pPr marL="342900" indent="-342900">
              <a:buAutoNum type="arabicPeriod"/>
            </a:pPr>
            <a:r>
              <a:rPr lang="en-US" dirty="0"/>
              <a:t>How did median home values in the Metro Nashville area change between 2020 and 2023, and did household income growth keep pace with these increases?</a:t>
            </a:r>
          </a:p>
          <a:p>
            <a:pPr marL="342900" indent="-342900">
              <a:buAutoNum type="arabicPeriod"/>
            </a:pPr>
            <a:endParaRPr lang="en-US" dirty="0"/>
          </a:p>
          <a:p>
            <a:pPr marL="342900" indent="-342900">
              <a:buAutoNum type="arabicPeriod"/>
            </a:pPr>
            <a:r>
              <a:rPr lang="en-US" dirty="0"/>
              <a:t>How did housing supply indicators including vacancy rates, occupied units, and housing stock change between 2020 and 2023, and what relationship did these trends have with housing affordability in Metro Nashville?</a:t>
            </a:r>
          </a:p>
          <a:p>
            <a:pPr marL="342900" indent="-342900">
              <a:buAutoNum type="arabicPeriod"/>
            </a:pPr>
            <a:endParaRPr lang="en-US" dirty="0"/>
          </a:p>
          <a:p>
            <a:pPr marL="342900" indent="-342900">
              <a:buAutoNum type="arabicPeriod"/>
            </a:pPr>
            <a:r>
              <a:rPr lang="en-US" dirty="0"/>
              <a:t>How did changes in 30-year fixed mortgage interest rates between 2020 and 2023 affect homeownership affordability in Metro Nashville, and how did the share of households able to afford a median-priced home change during this period?</a:t>
            </a:r>
          </a:p>
          <a:p>
            <a:pPr marL="342900" indent="-342900">
              <a:buAutoNum type="arabicPeriod"/>
            </a:pPr>
            <a:endParaRPr lang="en-US" dirty="0"/>
          </a:p>
          <a:p>
            <a:pPr marL="342900" indent="-342900">
              <a:buAutoNum type="arabicPeriod"/>
            </a:pPr>
            <a:r>
              <a:rPr lang="en-US" dirty="0"/>
              <a:t>Were changes in housing affordability evenly distributed across Metro Nashville between 2020 and 2023, or did certain ZIP codes experience more rapid declines in affordability than others?</a:t>
            </a:r>
          </a:p>
        </p:txBody>
      </p:sp>
    </p:spTree>
    <p:extLst>
      <p:ext uri="{BB962C8B-B14F-4D97-AF65-F5344CB8AC3E}">
        <p14:creationId xmlns:p14="http://schemas.microsoft.com/office/powerpoint/2010/main" val="404511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F808D7-A765-76F0-9157-9650D33648AF}"/>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34538BD-5182-757D-AA03-7FE43366C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D3BA9AF-2BD7-97AC-F960-51216C2F9482}"/>
              </a:ext>
            </a:extLst>
          </p:cNvPr>
          <p:cNvSpPr>
            <a:spLocks noGrp="1"/>
          </p:cNvSpPr>
          <p:nvPr>
            <p:ph type="title"/>
          </p:nvPr>
        </p:nvSpPr>
        <p:spPr>
          <a:xfrm>
            <a:off x="838200" y="365125"/>
            <a:ext cx="10515600" cy="1325563"/>
          </a:xfrm>
        </p:spPr>
        <p:txBody>
          <a:bodyPr>
            <a:normAutofit/>
          </a:bodyPr>
          <a:lstStyle/>
          <a:p>
            <a:r>
              <a:rPr lang="en-US" sz="5000" dirty="0"/>
              <a:t>About the data</a:t>
            </a:r>
          </a:p>
        </p:txBody>
      </p:sp>
      <p:sp>
        <p:nvSpPr>
          <p:cNvPr id="19" name="sketch line">
            <a:extLst>
              <a:ext uri="{FF2B5EF4-FFF2-40B4-BE49-F238E27FC236}">
                <a16:creationId xmlns:a16="http://schemas.microsoft.com/office/drawing/2014/main" id="{E2E8BF61-004B-D31B-5057-33B6A1A09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9" name="Table 58">
            <a:extLst>
              <a:ext uri="{FF2B5EF4-FFF2-40B4-BE49-F238E27FC236}">
                <a16:creationId xmlns:a16="http://schemas.microsoft.com/office/drawing/2014/main" id="{BCFE9DD7-46AB-7613-56F3-56A484D83033}"/>
              </a:ext>
            </a:extLst>
          </p:cNvPr>
          <p:cNvGraphicFramePr>
            <a:graphicFrameLocks noGrp="1"/>
          </p:cNvGraphicFramePr>
          <p:nvPr>
            <p:extLst>
              <p:ext uri="{D42A27DB-BD31-4B8C-83A1-F6EECF244321}">
                <p14:modId xmlns:p14="http://schemas.microsoft.com/office/powerpoint/2010/main" val="2514885130"/>
              </p:ext>
            </p:extLst>
          </p:nvPr>
        </p:nvGraphicFramePr>
        <p:xfrm>
          <a:off x="1381125" y="2074101"/>
          <a:ext cx="8877300" cy="3851212"/>
        </p:xfrm>
        <a:graphic>
          <a:graphicData uri="http://schemas.openxmlformats.org/drawingml/2006/table">
            <a:tbl>
              <a:tblPr firstRow="1" bandRow="1">
                <a:tableStyleId>{5C22544A-7EE6-4342-B048-85BDC9FD1C3A}</a:tableStyleId>
              </a:tblPr>
              <a:tblGrid>
                <a:gridCol w="2219325">
                  <a:extLst>
                    <a:ext uri="{9D8B030D-6E8A-4147-A177-3AD203B41FA5}">
                      <a16:colId xmlns:a16="http://schemas.microsoft.com/office/drawing/2014/main" val="3601202894"/>
                    </a:ext>
                  </a:extLst>
                </a:gridCol>
                <a:gridCol w="2219325">
                  <a:extLst>
                    <a:ext uri="{9D8B030D-6E8A-4147-A177-3AD203B41FA5}">
                      <a16:colId xmlns:a16="http://schemas.microsoft.com/office/drawing/2014/main" val="2432460529"/>
                    </a:ext>
                  </a:extLst>
                </a:gridCol>
                <a:gridCol w="2219325">
                  <a:extLst>
                    <a:ext uri="{9D8B030D-6E8A-4147-A177-3AD203B41FA5}">
                      <a16:colId xmlns:a16="http://schemas.microsoft.com/office/drawing/2014/main" val="2398182419"/>
                    </a:ext>
                  </a:extLst>
                </a:gridCol>
                <a:gridCol w="2219325">
                  <a:extLst>
                    <a:ext uri="{9D8B030D-6E8A-4147-A177-3AD203B41FA5}">
                      <a16:colId xmlns:a16="http://schemas.microsoft.com/office/drawing/2014/main" val="1658795704"/>
                    </a:ext>
                  </a:extLst>
                </a:gridCol>
              </a:tblGrid>
              <a:tr h="482227">
                <a:tc>
                  <a:txBody>
                    <a:bodyPr/>
                    <a:lstStyle/>
                    <a:p>
                      <a:pPr>
                        <a:buNone/>
                      </a:pPr>
                      <a:r>
                        <a:rPr lang="en-US" sz="1400" b="1" dirty="0"/>
                        <a:t>Dataset</a:t>
                      </a:r>
                      <a:endParaRPr lang="en-US" sz="1400" dirty="0"/>
                    </a:p>
                  </a:txBody>
                  <a:tcPr anchor="ctr"/>
                </a:tc>
                <a:tc>
                  <a:txBody>
                    <a:bodyPr/>
                    <a:lstStyle/>
                    <a:p>
                      <a:pPr>
                        <a:buNone/>
                      </a:pPr>
                      <a:r>
                        <a:rPr lang="en-US" sz="1400" b="1"/>
                        <a:t>Source</a:t>
                      </a:r>
                      <a:endParaRPr lang="en-US" sz="1400"/>
                    </a:p>
                  </a:txBody>
                  <a:tcPr anchor="ctr"/>
                </a:tc>
                <a:tc>
                  <a:txBody>
                    <a:bodyPr/>
                    <a:lstStyle/>
                    <a:p>
                      <a:pPr>
                        <a:buNone/>
                      </a:pPr>
                      <a:r>
                        <a:rPr lang="en-US" sz="1400" b="1"/>
                        <a:t>Geography</a:t>
                      </a:r>
                      <a:endParaRPr lang="en-US" sz="1400"/>
                    </a:p>
                  </a:txBody>
                  <a:tcPr anchor="ctr"/>
                </a:tc>
                <a:tc>
                  <a:txBody>
                    <a:bodyPr/>
                    <a:lstStyle/>
                    <a:p>
                      <a:pPr>
                        <a:buNone/>
                      </a:pPr>
                      <a:r>
                        <a:rPr lang="en-US" sz="1400" b="1"/>
                        <a:t>Used For</a:t>
                      </a:r>
                      <a:endParaRPr lang="en-US" sz="1400"/>
                    </a:p>
                  </a:txBody>
                  <a:tcPr anchor="ctr"/>
                </a:tc>
                <a:extLst>
                  <a:ext uri="{0D108BD9-81ED-4DB2-BD59-A6C34878D82A}">
                    <a16:rowId xmlns:a16="http://schemas.microsoft.com/office/drawing/2014/main" val="3491585268"/>
                  </a:ext>
                </a:extLst>
              </a:tr>
              <a:tr h="673797">
                <a:tc>
                  <a:txBody>
                    <a:bodyPr/>
                    <a:lstStyle/>
                    <a:p>
                      <a:pPr>
                        <a:buNone/>
                      </a:pPr>
                      <a:r>
                        <a:rPr lang="en-US" sz="1400"/>
                        <a:t>Residential Property Sales</a:t>
                      </a:r>
                    </a:p>
                  </a:txBody>
                  <a:tcPr anchor="ctr"/>
                </a:tc>
                <a:tc>
                  <a:txBody>
                    <a:bodyPr/>
                    <a:lstStyle/>
                    <a:p>
                      <a:pPr>
                        <a:buNone/>
                      </a:pPr>
                      <a:r>
                        <a:rPr lang="en-US" sz="1400" dirty="0"/>
                        <a:t>Metro Nashville (data.nashville.gov)</a:t>
                      </a:r>
                    </a:p>
                  </a:txBody>
                  <a:tcPr anchor="ctr"/>
                </a:tc>
                <a:tc>
                  <a:txBody>
                    <a:bodyPr/>
                    <a:lstStyle/>
                    <a:p>
                      <a:pPr>
                        <a:buNone/>
                      </a:pPr>
                      <a:r>
                        <a:rPr lang="en-US" sz="1400"/>
                        <a:t>Individual parcels</a:t>
                      </a:r>
                    </a:p>
                  </a:txBody>
                  <a:tcPr anchor="ctr"/>
                </a:tc>
                <a:tc>
                  <a:txBody>
                    <a:bodyPr/>
                    <a:lstStyle/>
                    <a:p>
                      <a:pPr>
                        <a:buNone/>
                      </a:pPr>
                      <a:r>
                        <a:rPr lang="en-US" sz="1400"/>
                        <a:t>Sale prices, zoning, spatial patterns</a:t>
                      </a:r>
                    </a:p>
                  </a:txBody>
                  <a:tcPr anchor="ctr"/>
                </a:tc>
                <a:extLst>
                  <a:ext uri="{0D108BD9-81ED-4DB2-BD59-A6C34878D82A}">
                    <a16:rowId xmlns:a16="http://schemas.microsoft.com/office/drawing/2014/main" val="2225827144"/>
                  </a:ext>
                </a:extLst>
              </a:tr>
              <a:tr h="673797">
                <a:tc>
                  <a:txBody>
                    <a:bodyPr/>
                    <a:lstStyle/>
                    <a:p>
                      <a:pPr>
                        <a:buNone/>
                      </a:pPr>
                      <a:r>
                        <a:rPr lang="en-US" sz="1400"/>
                        <a:t>Housing Market Trends</a:t>
                      </a:r>
                    </a:p>
                  </a:txBody>
                  <a:tcPr anchor="ctr"/>
                </a:tc>
                <a:tc>
                  <a:txBody>
                    <a:bodyPr/>
                    <a:lstStyle/>
                    <a:p>
                      <a:pPr>
                        <a:buNone/>
                      </a:pPr>
                      <a:r>
                        <a:rPr lang="en-US" sz="1400" dirty="0"/>
                        <a:t>Redfin</a:t>
                      </a:r>
                    </a:p>
                  </a:txBody>
                  <a:tcPr anchor="ctr"/>
                </a:tc>
                <a:tc>
                  <a:txBody>
                    <a:bodyPr/>
                    <a:lstStyle/>
                    <a:p>
                      <a:pPr>
                        <a:buNone/>
                      </a:pPr>
                      <a:r>
                        <a:rPr lang="en-US" sz="1400"/>
                        <a:t>Nashville Metro Area</a:t>
                      </a:r>
                    </a:p>
                  </a:txBody>
                  <a:tcPr anchor="ctr"/>
                </a:tc>
                <a:tc>
                  <a:txBody>
                    <a:bodyPr/>
                    <a:lstStyle/>
                    <a:p>
                      <a:pPr>
                        <a:buNone/>
                      </a:pPr>
                      <a:r>
                        <a:rPr lang="en-US" sz="1400"/>
                        <a:t>Market prices, supply &amp; demand</a:t>
                      </a:r>
                    </a:p>
                  </a:txBody>
                  <a:tcPr anchor="ctr"/>
                </a:tc>
                <a:extLst>
                  <a:ext uri="{0D108BD9-81ED-4DB2-BD59-A6C34878D82A}">
                    <a16:rowId xmlns:a16="http://schemas.microsoft.com/office/drawing/2014/main" val="3213220211"/>
                  </a:ext>
                </a:extLst>
              </a:tr>
              <a:tr h="673797">
                <a:tc>
                  <a:txBody>
                    <a:bodyPr/>
                    <a:lstStyle/>
                    <a:p>
                      <a:pPr>
                        <a:buNone/>
                      </a:pPr>
                      <a:r>
                        <a:rPr lang="en-US" sz="1400"/>
                        <a:t>Income &amp; Housing Costs</a:t>
                      </a:r>
                    </a:p>
                  </a:txBody>
                  <a:tcPr anchor="ctr"/>
                </a:tc>
                <a:tc>
                  <a:txBody>
                    <a:bodyPr/>
                    <a:lstStyle/>
                    <a:p>
                      <a:pPr>
                        <a:buNone/>
                      </a:pPr>
                      <a:r>
                        <a:rPr lang="en-US" sz="1400"/>
                        <a:t>U.S. Census (ACS)</a:t>
                      </a:r>
                    </a:p>
                  </a:txBody>
                  <a:tcPr anchor="ctr"/>
                </a:tc>
                <a:tc>
                  <a:txBody>
                    <a:bodyPr/>
                    <a:lstStyle/>
                    <a:p>
                      <a:pPr>
                        <a:buNone/>
                      </a:pPr>
                      <a:r>
                        <a:rPr lang="en-US" sz="1400"/>
                        <a:t>ZIP codes (ZCTA)</a:t>
                      </a:r>
                    </a:p>
                  </a:txBody>
                  <a:tcPr anchor="ctr"/>
                </a:tc>
                <a:tc>
                  <a:txBody>
                    <a:bodyPr/>
                    <a:lstStyle/>
                    <a:p>
                      <a:pPr>
                        <a:buNone/>
                      </a:pPr>
                      <a:r>
                        <a:rPr lang="en-US" sz="1400"/>
                        <a:t>Income, home values, rent</a:t>
                      </a:r>
                    </a:p>
                  </a:txBody>
                  <a:tcPr anchor="ctr"/>
                </a:tc>
                <a:extLst>
                  <a:ext uri="{0D108BD9-81ED-4DB2-BD59-A6C34878D82A}">
                    <a16:rowId xmlns:a16="http://schemas.microsoft.com/office/drawing/2014/main" val="2975723325"/>
                  </a:ext>
                </a:extLst>
              </a:tr>
              <a:tr h="673797">
                <a:tc>
                  <a:txBody>
                    <a:bodyPr/>
                    <a:lstStyle/>
                    <a:p>
                      <a:pPr>
                        <a:buNone/>
                      </a:pPr>
                      <a:r>
                        <a:rPr lang="en-US" sz="1400"/>
                        <a:t>Population &amp; Poverty</a:t>
                      </a:r>
                    </a:p>
                  </a:txBody>
                  <a:tcPr anchor="ctr"/>
                </a:tc>
                <a:tc>
                  <a:txBody>
                    <a:bodyPr/>
                    <a:lstStyle/>
                    <a:p>
                      <a:pPr>
                        <a:buNone/>
                      </a:pPr>
                      <a:r>
                        <a:rPr lang="en-US" sz="1400"/>
                        <a:t>U.S. Census (ACS)</a:t>
                      </a:r>
                    </a:p>
                  </a:txBody>
                  <a:tcPr anchor="ctr"/>
                </a:tc>
                <a:tc>
                  <a:txBody>
                    <a:bodyPr/>
                    <a:lstStyle/>
                    <a:p>
                      <a:pPr>
                        <a:buNone/>
                      </a:pPr>
                      <a:r>
                        <a:rPr lang="en-US" sz="1400"/>
                        <a:t>ZIP codes (ZCTA)</a:t>
                      </a:r>
                    </a:p>
                  </a:txBody>
                  <a:tcPr anchor="ctr"/>
                </a:tc>
                <a:tc>
                  <a:txBody>
                    <a:bodyPr/>
                    <a:lstStyle/>
                    <a:p>
                      <a:pPr>
                        <a:buNone/>
                      </a:pPr>
                      <a:r>
                        <a:rPr lang="en-US" sz="1400"/>
                        <a:t>Population, vacancy, poverty</a:t>
                      </a:r>
                    </a:p>
                  </a:txBody>
                  <a:tcPr anchor="ctr"/>
                </a:tc>
                <a:extLst>
                  <a:ext uri="{0D108BD9-81ED-4DB2-BD59-A6C34878D82A}">
                    <a16:rowId xmlns:a16="http://schemas.microsoft.com/office/drawing/2014/main" val="1570919569"/>
                  </a:ext>
                </a:extLst>
              </a:tr>
              <a:tr h="673797">
                <a:tc>
                  <a:txBody>
                    <a:bodyPr/>
                    <a:lstStyle/>
                    <a:p>
                      <a:pPr>
                        <a:buNone/>
                      </a:pPr>
                      <a:r>
                        <a:rPr lang="en-US" sz="1400"/>
                        <a:t>Mortgage Rates</a:t>
                      </a:r>
                    </a:p>
                  </a:txBody>
                  <a:tcPr anchor="ctr"/>
                </a:tc>
                <a:tc>
                  <a:txBody>
                    <a:bodyPr/>
                    <a:lstStyle/>
                    <a:p>
                      <a:pPr>
                        <a:buNone/>
                      </a:pPr>
                      <a:r>
                        <a:rPr lang="en-US" sz="1400"/>
                        <a:t>Federal Reserve (FRED)</a:t>
                      </a:r>
                    </a:p>
                  </a:txBody>
                  <a:tcPr anchor="ctr"/>
                </a:tc>
                <a:tc>
                  <a:txBody>
                    <a:bodyPr/>
                    <a:lstStyle/>
                    <a:p>
                      <a:pPr>
                        <a:buNone/>
                      </a:pPr>
                      <a:r>
                        <a:rPr lang="en-US" sz="1400"/>
                        <a:t>National</a:t>
                      </a:r>
                    </a:p>
                  </a:txBody>
                  <a:tcPr anchor="ctr"/>
                </a:tc>
                <a:tc>
                  <a:txBody>
                    <a:bodyPr/>
                    <a:lstStyle/>
                    <a:p>
                      <a:pPr>
                        <a:buNone/>
                      </a:pPr>
                      <a:r>
                        <a:rPr lang="en-US" sz="1400" dirty="0"/>
                        <a:t>Financing conditions</a:t>
                      </a:r>
                    </a:p>
                  </a:txBody>
                  <a:tcPr anchor="ctr"/>
                </a:tc>
                <a:extLst>
                  <a:ext uri="{0D108BD9-81ED-4DB2-BD59-A6C34878D82A}">
                    <a16:rowId xmlns:a16="http://schemas.microsoft.com/office/drawing/2014/main" val="677150393"/>
                  </a:ext>
                </a:extLst>
              </a:tr>
            </a:tbl>
          </a:graphicData>
        </a:graphic>
      </p:graphicFrame>
      <p:sp>
        <p:nvSpPr>
          <p:cNvPr id="60" name="TextBox 59">
            <a:extLst>
              <a:ext uri="{FF2B5EF4-FFF2-40B4-BE49-F238E27FC236}">
                <a16:creationId xmlns:a16="http://schemas.microsoft.com/office/drawing/2014/main" id="{EACC3C81-5AC3-F7E2-DD04-AF63D0053FB8}"/>
              </a:ext>
            </a:extLst>
          </p:cNvPr>
          <p:cNvSpPr txBox="1"/>
          <p:nvPr/>
        </p:nvSpPr>
        <p:spPr>
          <a:xfrm>
            <a:off x="1381125" y="5925313"/>
            <a:ext cx="4781550" cy="215444"/>
          </a:xfrm>
          <a:prstGeom prst="rect">
            <a:avLst/>
          </a:prstGeom>
          <a:noFill/>
        </p:spPr>
        <p:txBody>
          <a:bodyPr wrap="square" rtlCol="0">
            <a:spAutoFit/>
          </a:bodyPr>
          <a:lstStyle/>
          <a:p>
            <a:r>
              <a:rPr lang="en-US" sz="800" i="1" dirty="0"/>
              <a:t>ACS data are 5-year estimates. ZCTAs approximate postal ZIP codes. Missing values were excluded.</a:t>
            </a:r>
          </a:p>
        </p:txBody>
      </p:sp>
    </p:spTree>
    <p:extLst>
      <p:ext uri="{BB962C8B-B14F-4D97-AF65-F5344CB8AC3E}">
        <p14:creationId xmlns:p14="http://schemas.microsoft.com/office/powerpoint/2010/main" val="835599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2F295F-C423-1C7A-F0D5-B4FEC5277C9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464FE2B-8E3D-B874-D701-0EA99F5F1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FB1300D-AC32-6A7E-3302-C38583BC0E9A}"/>
              </a:ext>
            </a:extLst>
          </p:cNvPr>
          <p:cNvSpPr>
            <a:spLocks noGrp="1"/>
          </p:cNvSpPr>
          <p:nvPr>
            <p:ph type="title"/>
          </p:nvPr>
        </p:nvSpPr>
        <p:spPr>
          <a:xfrm>
            <a:off x="838200" y="365125"/>
            <a:ext cx="10515600" cy="1325563"/>
          </a:xfrm>
        </p:spPr>
        <p:txBody>
          <a:bodyPr>
            <a:normAutofit/>
          </a:bodyPr>
          <a:lstStyle/>
          <a:p>
            <a:r>
              <a:rPr lang="en-US" sz="5000" dirty="0"/>
              <a:t>Nashville Housing Market Metrix's </a:t>
            </a:r>
          </a:p>
        </p:txBody>
      </p:sp>
      <p:sp>
        <p:nvSpPr>
          <p:cNvPr id="19" name="sketch line">
            <a:extLst>
              <a:ext uri="{FF2B5EF4-FFF2-40B4-BE49-F238E27FC236}">
                <a16:creationId xmlns:a16="http://schemas.microsoft.com/office/drawing/2014/main" id="{7E048FF6-6921-1686-C0B2-27EB2F41A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7B064B8D-B47F-4375-2B50-CF6CF3893C03}"/>
              </a:ext>
            </a:extLst>
          </p:cNvPr>
          <p:cNvSpPr/>
          <p:nvPr/>
        </p:nvSpPr>
        <p:spPr>
          <a:xfrm>
            <a:off x="697481" y="2262359"/>
            <a:ext cx="2514600" cy="1600200"/>
          </a:xfrm>
          <a:prstGeom prst="rect">
            <a:avLst/>
          </a:prstGeom>
          <a:solidFill>
            <a:srgbClr val="F2F2F2"/>
          </a:solidFill>
          <a:ln>
            <a:no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8F05392-D2AB-832C-F0A7-FDBEC20C334A}"/>
              </a:ext>
            </a:extLst>
          </p:cNvPr>
          <p:cNvSpPr txBox="1"/>
          <p:nvPr/>
        </p:nvSpPr>
        <p:spPr>
          <a:xfrm>
            <a:off x="1118312" y="2662349"/>
            <a:ext cx="1672937" cy="830997"/>
          </a:xfrm>
          <a:prstGeom prst="rect">
            <a:avLst/>
          </a:prstGeom>
          <a:noFill/>
        </p:spPr>
        <p:txBody>
          <a:bodyPr wrap="square" rtlCol="0">
            <a:spAutoFit/>
          </a:bodyPr>
          <a:lstStyle/>
          <a:p>
            <a:pPr algn="ctr"/>
            <a:r>
              <a:rPr lang="en-US" sz="3400" b="1" dirty="0"/>
              <a:t>40,434</a:t>
            </a:r>
          </a:p>
          <a:p>
            <a:pPr algn="ctr"/>
            <a:r>
              <a:rPr lang="en-US" sz="1400" dirty="0"/>
              <a:t>Total Homes Sold</a:t>
            </a:r>
          </a:p>
        </p:txBody>
      </p:sp>
      <p:sp>
        <p:nvSpPr>
          <p:cNvPr id="53" name="Rectangle 52">
            <a:extLst>
              <a:ext uri="{FF2B5EF4-FFF2-40B4-BE49-F238E27FC236}">
                <a16:creationId xmlns:a16="http://schemas.microsoft.com/office/drawing/2014/main" id="{A0F0684F-4197-6064-55B4-98EB35BEC608}"/>
              </a:ext>
            </a:extLst>
          </p:cNvPr>
          <p:cNvSpPr/>
          <p:nvPr/>
        </p:nvSpPr>
        <p:spPr>
          <a:xfrm>
            <a:off x="3543976" y="4407477"/>
            <a:ext cx="2514600" cy="1600200"/>
          </a:xfrm>
          <a:prstGeom prst="rect">
            <a:avLst/>
          </a:prstGeom>
          <a:solidFill>
            <a:srgbClr val="F2F2F2"/>
          </a:solidFill>
          <a:ln>
            <a:no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1EDDE1D7-883C-62FF-3687-9FBB1577874D}"/>
              </a:ext>
            </a:extLst>
          </p:cNvPr>
          <p:cNvSpPr/>
          <p:nvPr/>
        </p:nvSpPr>
        <p:spPr>
          <a:xfrm>
            <a:off x="3542140" y="2262359"/>
            <a:ext cx="2514600" cy="1600200"/>
          </a:xfrm>
          <a:prstGeom prst="rect">
            <a:avLst/>
          </a:prstGeom>
          <a:solidFill>
            <a:srgbClr val="F2F2F2"/>
          </a:solidFill>
          <a:ln>
            <a:no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F9704708-6D90-46C9-1CAE-40013BD95D43}"/>
              </a:ext>
            </a:extLst>
          </p:cNvPr>
          <p:cNvSpPr/>
          <p:nvPr/>
        </p:nvSpPr>
        <p:spPr>
          <a:xfrm>
            <a:off x="9236966" y="4407477"/>
            <a:ext cx="2514600" cy="1600200"/>
          </a:xfrm>
          <a:prstGeom prst="rect">
            <a:avLst/>
          </a:prstGeom>
          <a:solidFill>
            <a:srgbClr val="F2F2F2"/>
          </a:solidFill>
          <a:ln>
            <a:no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F92D9006-4F0B-4761-2C1A-A8C48A31A008}"/>
              </a:ext>
            </a:extLst>
          </p:cNvPr>
          <p:cNvSpPr/>
          <p:nvPr/>
        </p:nvSpPr>
        <p:spPr>
          <a:xfrm>
            <a:off x="9231457" y="2262359"/>
            <a:ext cx="2514600" cy="1600200"/>
          </a:xfrm>
          <a:prstGeom prst="rect">
            <a:avLst/>
          </a:prstGeom>
          <a:solidFill>
            <a:srgbClr val="F2F2F2"/>
          </a:solidFill>
          <a:ln>
            <a:no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32D69E2D-ACD2-E3BF-DC2D-FE6E5D6DFB26}"/>
              </a:ext>
            </a:extLst>
          </p:cNvPr>
          <p:cNvSpPr/>
          <p:nvPr/>
        </p:nvSpPr>
        <p:spPr>
          <a:xfrm>
            <a:off x="697481" y="4407477"/>
            <a:ext cx="2514600" cy="1600200"/>
          </a:xfrm>
          <a:prstGeom prst="rect">
            <a:avLst/>
          </a:prstGeom>
          <a:solidFill>
            <a:srgbClr val="F2F2F2"/>
          </a:solidFill>
          <a:ln>
            <a:no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A2B05C51-F692-ADF1-1A14-326A496A24C3}"/>
              </a:ext>
            </a:extLst>
          </p:cNvPr>
          <p:cNvSpPr/>
          <p:nvPr/>
        </p:nvSpPr>
        <p:spPr>
          <a:xfrm>
            <a:off x="6390471" y="4407477"/>
            <a:ext cx="2514600" cy="1600200"/>
          </a:xfrm>
          <a:prstGeom prst="rect">
            <a:avLst/>
          </a:prstGeom>
          <a:solidFill>
            <a:srgbClr val="F2F2F2"/>
          </a:solidFill>
          <a:ln>
            <a:no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9BFF97D0-ED64-E128-C274-C00499EFFAE4}"/>
              </a:ext>
            </a:extLst>
          </p:cNvPr>
          <p:cNvSpPr/>
          <p:nvPr/>
        </p:nvSpPr>
        <p:spPr>
          <a:xfrm>
            <a:off x="6386799" y="2262359"/>
            <a:ext cx="2514600" cy="1600200"/>
          </a:xfrm>
          <a:prstGeom prst="rect">
            <a:avLst/>
          </a:prstGeom>
          <a:solidFill>
            <a:srgbClr val="F2F2F2"/>
          </a:solidFill>
          <a:ln>
            <a:no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18AD629B-E91D-DE53-3D91-9B4392A59A0C}"/>
              </a:ext>
            </a:extLst>
          </p:cNvPr>
          <p:cNvSpPr txBox="1"/>
          <p:nvPr/>
        </p:nvSpPr>
        <p:spPr>
          <a:xfrm>
            <a:off x="3585568" y="2656349"/>
            <a:ext cx="2427742" cy="830997"/>
          </a:xfrm>
          <a:prstGeom prst="rect">
            <a:avLst/>
          </a:prstGeom>
          <a:noFill/>
        </p:spPr>
        <p:txBody>
          <a:bodyPr wrap="square" rtlCol="0">
            <a:spAutoFit/>
          </a:bodyPr>
          <a:lstStyle/>
          <a:p>
            <a:pPr algn="ctr"/>
            <a:r>
              <a:rPr lang="en-US" sz="3400" b="1" dirty="0"/>
              <a:t>10,109</a:t>
            </a:r>
          </a:p>
          <a:p>
            <a:pPr algn="ctr"/>
            <a:r>
              <a:rPr lang="en-US" sz="1400" dirty="0"/>
              <a:t>Average Yearly Home Sales</a:t>
            </a:r>
          </a:p>
        </p:txBody>
      </p:sp>
      <p:sp>
        <p:nvSpPr>
          <p:cNvPr id="62" name="TextBox 61">
            <a:extLst>
              <a:ext uri="{FF2B5EF4-FFF2-40B4-BE49-F238E27FC236}">
                <a16:creationId xmlns:a16="http://schemas.microsoft.com/office/drawing/2014/main" id="{EC08A544-DE54-C799-B423-36CDCF2C5E78}"/>
              </a:ext>
            </a:extLst>
          </p:cNvPr>
          <p:cNvSpPr txBox="1"/>
          <p:nvPr/>
        </p:nvSpPr>
        <p:spPr>
          <a:xfrm>
            <a:off x="6615820" y="2649348"/>
            <a:ext cx="2056555" cy="830997"/>
          </a:xfrm>
          <a:prstGeom prst="rect">
            <a:avLst/>
          </a:prstGeom>
          <a:noFill/>
        </p:spPr>
        <p:txBody>
          <a:bodyPr wrap="square" rtlCol="0">
            <a:spAutoFit/>
          </a:bodyPr>
          <a:lstStyle/>
          <a:p>
            <a:pPr algn="ctr"/>
            <a:r>
              <a:rPr lang="en-US" sz="3400" b="1" dirty="0"/>
              <a:t>$320,000</a:t>
            </a:r>
          </a:p>
          <a:p>
            <a:pPr algn="ctr"/>
            <a:r>
              <a:rPr lang="en-US" sz="1400" dirty="0"/>
              <a:t>Median Sale Price 2020</a:t>
            </a:r>
          </a:p>
        </p:txBody>
      </p:sp>
      <p:sp>
        <p:nvSpPr>
          <p:cNvPr id="63" name="TextBox 62">
            <a:extLst>
              <a:ext uri="{FF2B5EF4-FFF2-40B4-BE49-F238E27FC236}">
                <a16:creationId xmlns:a16="http://schemas.microsoft.com/office/drawing/2014/main" id="{5CDB8C99-1CCB-5587-C46B-2A5DF5A29899}"/>
              </a:ext>
            </a:extLst>
          </p:cNvPr>
          <p:cNvSpPr txBox="1"/>
          <p:nvPr/>
        </p:nvSpPr>
        <p:spPr>
          <a:xfrm>
            <a:off x="9443815" y="2643071"/>
            <a:ext cx="2089881" cy="830997"/>
          </a:xfrm>
          <a:prstGeom prst="rect">
            <a:avLst/>
          </a:prstGeom>
          <a:noFill/>
        </p:spPr>
        <p:txBody>
          <a:bodyPr wrap="square" rtlCol="0">
            <a:spAutoFit/>
          </a:bodyPr>
          <a:lstStyle/>
          <a:p>
            <a:pPr algn="ctr"/>
            <a:r>
              <a:rPr lang="en-US" sz="3400" b="1" dirty="0"/>
              <a:t>$437,200</a:t>
            </a:r>
          </a:p>
          <a:p>
            <a:pPr algn="ctr"/>
            <a:r>
              <a:rPr lang="en-US" sz="1400" dirty="0"/>
              <a:t>Median Sale Price 2023</a:t>
            </a:r>
          </a:p>
        </p:txBody>
      </p:sp>
      <p:sp>
        <p:nvSpPr>
          <p:cNvPr id="64" name="TextBox 63">
            <a:extLst>
              <a:ext uri="{FF2B5EF4-FFF2-40B4-BE49-F238E27FC236}">
                <a16:creationId xmlns:a16="http://schemas.microsoft.com/office/drawing/2014/main" id="{52E77D86-07E9-33B7-C2FD-38107DBCFFB2}"/>
              </a:ext>
            </a:extLst>
          </p:cNvPr>
          <p:cNvSpPr txBox="1"/>
          <p:nvPr/>
        </p:nvSpPr>
        <p:spPr>
          <a:xfrm>
            <a:off x="1019818" y="4783556"/>
            <a:ext cx="1869924" cy="830997"/>
          </a:xfrm>
          <a:prstGeom prst="rect">
            <a:avLst/>
          </a:prstGeom>
          <a:noFill/>
        </p:spPr>
        <p:txBody>
          <a:bodyPr wrap="square" rtlCol="0">
            <a:spAutoFit/>
          </a:bodyPr>
          <a:lstStyle/>
          <a:p>
            <a:pPr algn="ctr"/>
            <a:r>
              <a:rPr lang="en-US" sz="3400" b="1" dirty="0"/>
              <a:t>981,955</a:t>
            </a:r>
          </a:p>
          <a:p>
            <a:pPr algn="ctr"/>
            <a:r>
              <a:rPr lang="en-US" sz="1400" dirty="0"/>
              <a:t>Average Population</a:t>
            </a:r>
          </a:p>
        </p:txBody>
      </p:sp>
      <p:sp>
        <p:nvSpPr>
          <p:cNvPr id="65" name="TextBox 64">
            <a:extLst>
              <a:ext uri="{FF2B5EF4-FFF2-40B4-BE49-F238E27FC236}">
                <a16:creationId xmlns:a16="http://schemas.microsoft.com/office/drawing/2014/main" id="{40D337F7-9BCF-4A96-AD0F-AE467E9DF863}"/>
              </a:ext>
            </a:extLst>
          </p:cNvPr>
          <p:cNvSpPr txBox="1"/>
          <p:nvPr/>
        </p:nvSpPr>
        <p:spPr>
          <a:xfrm>
            <a:off x="3634503" y="4783556"/>
            <a:ext cx="2329873" cy="830997"/>
          </a:xfrm>
          <a:prstGeom prst="rect">
            <a:avLst/>
          </a:prstGeom>
          <a:noFill/>
        </p:spPr>
        <p:txBody>
          <a:bodyPr wrap="square" rtlCol="0">
            <a:spAutoFit/>
          </a:bodyPr>
          <a:lstStyle/>
          <a:p>
            <a:pPr algn="ctr"/>
            <a:r>
              <a:rPr lang="en-US" sz="3400" b="1" dirty="0"/>
              <a:t>$82,883.40</a:t>
            </a:r>
          </a:p>
          <a:p>
            <a:pPr algn="ctr"/>
            <a:r>
              <a:rPr lang="en-US" sz="1400" dirty="0"/>
              <a:t>Median Household Income</a:t>
            </a:r>
          </a:p>
        </p:txBody>
      </p:sp>
      <p:sp>
        <p:nvSpPr>
          <p:cNvPr id="66" name="TextBox 65">
            <a:extLst>
              <a:ext uri="{FF2B5EF4-FFF2-40B4-BE49-F238E27FC236}">
                <a16:creationId xmlns:a16="http://schemas.microsoft.com/office/drawing/2014/main" id="{22F225A1-E99E-2815-850D-21FA018A2195}"/>
              </a:ext>
            </a:extLst>
          </p:cNvPr>
          <p:cNvSpPr txBox="1"/>
          <p:nvPr/>
        </p:nvSpPr>
        <p:spPr>
          <a:xfrm>
            <a:off x="9535788" y="4765128"/>
            <a:ext cx="1997908" cy="830997"/>
          </a:xfrm>
          <a:prstGeom prst="rect">
            <a:avLst/>
          </a:prstGeom>
          <a:noFill/>
        </p:spPr>
        <p:txBody>
          <a:bodyPr wrap="square" rtlCol="0">
            <a:spAutoFit/>
          </a:bodyPr>
          <a:lstStyle/>
          <a:p>
            <a:pPr algn="ctr"/>
            <a:r>
              <a:rPr lang="en-US" sz="3400" b="1" dirty="0"/>
              <a:t>4.55%</a:t>
            </a:r>
          </a:p>
          <a:p>
            <a:pPr algn="ctr"/>
            <a:r>
              <a:rPr lang="en-US" sz="1400" dirty="0"/>
              <a:t>Average Mortgage Rate</a:t>
            </a:r>
          </a:p>
        </p:txBody>
      </p:sp>
      <p:sp>
        <p:nvSpPr>
          <p:cNvPr id="67" name="TextBox 66">
            <a:extLst>
              <a:ext uri="{FF2B5EF4-FFF2-40B4-BE49-F238E27FC236}">
                <a16:creationId xmlns:a16="http://schemas.microsoft.com/office/drawing/2014/main" id="{CD7201A7-9E3A-067E-7422-34FDC06F2DFB}"/>
              </a:ext>
            </a:extLst>
          </p:cNvPr>
          <p:cNvSpPr txBox="1"/>
          <p:nvPr/>
        </p:nvSpPr>
        <p:spPr>
          <a:xfrm>
            <a:off x="6533061" y="4783555"/>
            <a:ext cx="2222072" cy="830997"/>
          </a:xfrm>
          <a:prstGeom prst="rect">
            <a:avLst/>
          </a:prstGeom>
          <a:noFill/>
        </p:spPr>
        <p:txBody>
          <a:bodyPr wrap="square" rtlCol="0">
            <a:spAutoFit/>
          </a:bodyPr>
          <a:lstStyle/>
          <a:p>
            <a:pPr algn="ctr"/>
            <a:r>
              <a:rPr lang="en-US" sz="3400" b="1" dirty="0"/>
              <a:t>$1,413.51</a:t>
            </a:r>
          </a:p>
          <a:p>
            <a:pPr algn="ctr"/>
            <a:r>
              <a:rPr lang="en-US" sz="1400" dirty="0"/>
              <a:t>Median Rent Price</a:t>
            </a:r>
          </a:p>
        </p:txBody>
      </p:sp>
    </p:spTree>
    <p:extLst>
      <p:ext uri="{BB962C8B-B14F-4D97-AF65-F5344CB8AC3E}">
        <p14:creationId xmlns:p14="http://schemas.microsoft.com/office/powerpoint/2010/main" val="542633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8644FC-F1EA-B271-90B9-23789C241C95}"/>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CA92C0F-82BD-C8E1-30EE-506B07DFE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9061BB3-7E15-2851-2DDF-7643C2B84269}"/>
              </a:ext>
            </a:extLst>
          </p:cNvPr>
          <p:cNvSpPr>
            <a:spLocks noGrp="1"/>
          </p:cNvSpPr>
          <p:nvPr>
            <p:ph type="title"/>
          </p:nvPr>
        </p:nvSpPr>
        <p:spPr>
          <a:xfrm>
            <a:off x="836676" y="360954"/>
            <a:ext cx="10515600" cy="1325563"/>
          </a:xfrm>
        </p:spPr>
        <p:txBody>
          <a:bodyPr>
            <a:normAutofit/>
          </a:bodyPr>
          <a:lstStyle/>
          <a:p>
            <a:r>
              <a:rPr lang="en-US" sz="3200" b="1" dirty="0"/>
              <a:t>Home Prices vs Income in Metro Nashville (2020–2023)</a:t>
            </a:r>
          </a:p>
        </p:txBody>
      </p:sp>
      <p:sp>
        <p:nvSpPr>
          <p:cNvPr id="19" name="sketch line">
            <a:extLst>
              <a:ext uri="{FF2B5EF4-FFF2-40B4-BE49-F238E27FC236}">
                <a16:creationId xmlns:a16="http://schemas.microsoft.com/office/drawing/2014/main" id="{0A0DC3D1-8C1B-10C4-AFDA-7BA4AB262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F5978D41-A1D0-C3FA-6E4A-CBD806CA2CFC}"/>
              </a:ext>
            </a:extLst>
          </p:cNvPr>
          <p:cNvSpPr txBox="1"/>
          <p:nvPr/>
        </p:nvSpPr>
        <p:spPr>
          <a:xfrm>
            <a:off x="2521627" y="1862805"/>
            <a:ext cx="7145697" cy="369332"/>
          </a:xfrm>
          <a:prstGeom prst="rect">
            <a:avLst/>
          </a:prstGeom>
          <a:noFill/>
        </p:spPr>
        <p:txBody>
          <a:bodyPr wrap="square" rtlCol="0">
            <a:spAutoFit/>
          </a:bodyPr>
          <a:lstStyle/>
          <a:p>
            <a:r>
              <a:rPr lang="en-US" dirty="0"/>
              <a:t>Home prices increased substantially faster than household income</a:t>
            </a:r>
          </a:p>
        </p:txBody>
      </p:sp>
      <p:sp>
        <p:nvSpPr>
          <p:cNvPr id="14" name="TextBox 13">
            <a:extLst>
              <a:ext uri="{FF2B5EF4-FFF2-40B4-BE49-F238E27FC236}">
                <a16:creationId xmlns:a16="http://schemas.microsoft.com/office/drawing/2014/main" id="{184AB04E-7903-0A7E-518C-76A24AE8D5EE}"/>
              </a:ext>
            </a:extLst>
          </p:cNvPr>
          <p:cNvSpPr txBox="1"/>
          <p:nvPr/>
        </p:nvSpPr>
        <p:spPr>
          <a:xfrm>
            <a:off x="2427688" y="6032894"/>
            <a:ext cx="7333573" cy="646331"/>
          </a:xfrm>
          <a:prstGeom prst="rect">
            <a:avLst/>
          </a:prstGeom>
          <a:noFill/>
        </p:spPr>
        <p:txBody>
          <a:bodyPr wrap="square" rtlCol="0">
            <a:spAutoFit/>
          </a:bodyPr>
          <a:lstStyle/>
          <a:p>
            <a:r>
              <a:rPr lang="en-US" dirty="0"/>
              <a:t>Between 2020 and 2023, median home values increased by over 40%, while median household income grew by approximately 25%.</a:t>
            </a:r>
          </a:p>
        </p:txBody>
      </p:sp>
      <p:pic>
        <p:nvPicPr>
          <p:cNvPr id="16" name="Picture 15" descr="A graph of value and value&#10;&#10;AI-generated content may be incorrect.">
            <a:extLst>
              <a:ext uri="{FF2B5EF4-FFF2-40B4-BE49-F238E27FC236}">
                <a16:creationId xmlns:a16="http://schemas.microsoft.com/office/drawing/2014/main" id="{C01580BE-5937-35C6-CE81-8CB9F6E7E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2022" y="2568353"/>
            <a:ext cx="7810538" cy="3128324"/>
          </a:xfrm>
          <a:prstGeom prst="rect">
            <a:avLst/>
          </a:prstGeom>
          <a:ln w="19050">
            <a:solidFill>
              <a:schemeClr val="tx1"/>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87554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977AFE-D466-5A50-8F6A-F7BAE56E51C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7722BA4-4F7D-7C10-6E2B-8C6046A1B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CD3A3AA-476B-A498-4856-A7F18AA6D853}"/>
              </a:ext>
            </a:extLst>
          </p:cNvPr>
          <p:cNvSpPr>
            <a:spLocks noGrp="1"/>
          </p:cNvSpPr>
          <p:nvPr>
            <p:ph type="title"/>
          </p:nvPr>
        </p:nvSpPr>
        <p:spPr>
          <a:xfrm>
            <a:off x="746871" y="360954"/>
            <a:ext cx="10938933" cy="1325563"/>
          </a:xfrm>
        </p:spPr>
        <p:txBody>
          <a:bodyPr>
            <a:normAutofit/>
          </a:bodyPr>
          <a:lstStyle/>
          <a:p>
            <a:r>
              <a:rPr lang="en-US" sz="2800" b="1" dirty="0"/>
              <a:t>The Price-to-Income Gap Has Widened in Metro Nashville (2020–2023)</a:t>
            </a:r>
          </a:p>
        </p:txBody>
      </p:sp>
      <p:sp>
        <p:nvSpPr>
          <p:cNvPr id="19" name="sketch line">
            <a:extLst>
              <a:ext uri="{FF2B5EF4-FFF2-40B4-BE49-F238E27FC236}">
                <a16:creationId xmlns:a16="http://schemas.microsoft.com/office/drawing/2014/main" id="{6C00AC07-3FE6-CA90-2B30-496FA1554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descr="A graph showing the growth of a number of years&#10;&#10;AI-generated content may be incorrect.">
            <a:extLst>
              <a:ext uri="{FF2B5EF4-FFF2-40B4-BE49-F238E27FC236}">
                <a16:creationId xmlns:a16="http://schemas.microsoft.com/office/drawing/2014/main" id="{CBCDD5BD-E41D-96BD-F14F-9DEBD40C6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663" y="2646656"/>
            <a:ext cx="5769813" cy="3260349"/>
          </a:xfrm>
          <a:prstGeom prst="rect">
            <a:avLst/>
          </a:prstGeom>
          <a:ln w="19050">
            <a:solidFill>
              <a:schemeClr val="tx1"/>
            </a:solidFill>
          </a:ln>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BF24B234-FCE9-73B0-EE9A-B3C50C0E6F3E}"/>
              </a:ext>
            </a:extLst>
          </p:cNvPr>
          <p:cNvSpPr txBox="1"/>
          <p:nvPr/>
        </p:nvSpPr>
        <p:spPr>
          <a:xfrm>
            <a:off x="2237003" y="1862805"/>
            <a:ext cx="7958667" cy="369332"/>
          </a:xfrm>
          <a:prstGeom prst="rect">
            <a:avLst/>
          </a:prstGeom>
          <a:noFill/>
        </p:spPr>
        <p:txBody>
          <a:bodyPr wrap="square" rtlCol="0">
            <a:spAutoFit/>
          </a:bodyPr>
          <a:lstStyle/>
          <a:p>
            <a:r>
              <a:rPr lang="en-US" dirty="0"/>
              <a:t>Rising home prices outpaced income growth, worsening housing affordability</a:t>
            </a:r>
          </a:p>
        </p:txBody>
      </p:sp>
      <p:sp>
        <p:nvSpPr>
          <p:cNvPr id="6" name="TextBox 5">
            <a:extLst>
              <a:ext uri="{FF2B5EF4-FFF2-40B4-BE49-F238E27FC236}">
                <a16:creationId xmlns:a16="http://schemas.microsoft.com/office/drawing/2014/main" id="{7C17B134-C5BC-C626-F537-43616E13A7E1}"/>
              </a:ext>
            </a:extLst>
          </p:cNvPr>
          <p:cNvSpPr txBox="1"/>
          <p:nvPr/>
        </p:nvSpPr>
        <p:spPr>
          <a:xfrm>
            <a:off x="6722364" y="3429000"/>
            <a:ext cx="4800600" cy="923330"/>
          </a:xfrm>
          <a:prstGeom prst="rect">
            <a:avLst/>
          </a:prstGeom>
          <a:noFill/>
        </p:spPr>
        <p:txBody>
          <a:bodyPr wrap="square" rtlCol="0">
            <a:spAutoFit/>
          </a:bodyPr>
          <a:lstStyle/>
          <a:p>
            <a:r>
              <a:rPr lang="en-US"/>
              <a:t>The rising price-to-income ratio indicates that housing became less affordable for median-income households between 2020 and 2023.</a:t>
            </a:r>
            <a:endParaRPr lang="en-US" dirty="0"/>
          </a:p>
        </p:txBody>
      </p:sp>
    </p:spTree>
    <p:extLst>
      <p:ext uri="{BB962C8B-B14F-4D97-AF65-F5344CB8AC3E}">
        <p14:creationId xmlns:p14="http://schemas.microsoft.com/office/powerpoint/2010/main" val="276759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5E8FF1-0B7C-B260-49EB-B6D21E94B6F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7E7921F-E1EA-18E5-9334-1677A4D20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F5C7DD5-93F4-87B9-7BE2-CF7C4DD653E2}"/>
              </a:ext>
            </a:extLst>
          </p:cNvPr>
          <p:cNvSpPr>
            <a:spLocks noGrp="1"/>
          </p:cNvSpPr>
          <p:nvPr>
            <p:ph type="title"/>
          </p:nvPr>
        </p:nvSpPr>
        <p:spPr>
          <a:xfrm>
            <a:off x="838200" y="365125"/>
            <a:ext cx="10515600" cy="1325563"/>
          </a:xfrm>
        </p:spPr>
        <p:txBody>
          <a:bodyPr>
            <a:normAutofit/>
          </a:bodyPr>
          <a:lstStyle/>
          <a:p>
            <a:r>
              <a:rPr lang="en-US" sz="5400" dirty="0"/>
              <a:t>Housing Supply Trends</a:t>
            </a:r>
            <a:endParaRPr lang="en-US" sz="5000" dirty="0"/>
          </a:p>
        </p:txBody>
      </p:sp>
      <p:sp>
        <p:nvSpPr>
          <p:cNvPr id="19" name="sketch line">
            <a:extLst>
              <a:ext uri="{FF2B5EF4-FFF2-40B4-BE49-F238E27FC236}">
                <a16:creationId xmlns:a16="http://schemas.microsoft.com/office/drawing/2014/main" id="{1D4651A1-DDB8-CDAF-EA48-546286D4D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C0A0C89-1E1F-F145-68DD-4741EE1F21A2}"/>
              </a:ext>
            </a:extLst>
          </p:cNvPr>
          <p:cNvSpPr txBox="1"/>
          <p:nvPr/>
        </p:nvSpPr>
        <p:spPr>
          <a:xfrm>
            <a:off x="736750" y="2776817"/>
            <a:ext cx="5706600" cy="2661774"/>
          </a:xfrm>
          <a:prstGeom prst="rect">
            <a:avLst/>
          </a:prstGeom>
          <a:noFill/>
        </p:spPr>
        <p:txBody>
          <a:bodyPr wrap="square" rtlCol="0">
            <a:spAutoFit/>
          </a:bodyPr>
          <a:lstStyle/>
          <a:p>
            <a:r>
              <a:rPr lang="en-US" dirty="0"/>
              <a:t>Between 2020 and 2023, total housing units in Metro Nashville increased modestly, while occupied units grew more rapidly, resulting in persistently low vacancy rates. This tightening of housing supply coincided with a steady increase in the price-to-income ratio, indicating declining housing affordability. These trends suggest that limited housing supply growth relative to demand contributed to rising home prices that outpaced income growth.</a:t>
            </a:r>
          </a:p>
        </p:txBody>
      </p:sp>
      <p:pic>
        <p:nvPicPr>
          <p:cNvPr id="5" name="Picture 4" descr="A graph of a number of people with numbers and a line&#10;&#10;AI-generated content may be incorrect.">
            <a:extLst>
              <a:ext uri="{FF2B5EF4-FFF2-40B4-BE49-F238E27FC236}">
                <a16:creationId xmlns:a16="http://schemas.microsoft.com/office/drawing/2014/main" id="{3ABD3270-EED2-272F-5DB7-267DB37C4C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3832" y="2648362"/>
            <a:ext cx="5170168" cy="2918683"/>
          </a:xfrm>
          <a:prstGeom prst="rect">
            <a:avLst/>
          </a:prstGeom>
        </p:spPr>
      </p:pic>
    </p:spTree>
    <p:extLst>
      <p:ext uri="{BB962C8B-B14F-4D97-AF65-F5344CB8AC3E}">
        <p14:creationId xmlns:p14="http://schemas.microsoft.com/office/powerpoint/2010/main" val="2267194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0F607B-AF95-8825-CD41-507AFF4CE37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F1FAD6C-F451-7E57-E4AE-A50CE06C8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1F9CD1A-A750-7D78-ECE6-CEB7E83AE85A}"/>
              </a:ext>
            </a:extLst>
          </p:cNvPr>
          <p:cNvSpPr>
            <a:spLocks noGrp="1"/>
          </p:cNvSpPr>
          <p:nvPr>
            <p:ph type="title"/>
          </p:nvPr>
        </p:nvSpPr>
        <p:spPr>
          <a:xfrm>
            <a:off x="838200" y="365125"/>
            <a:ext cx="10515600" cy="1325563"/>
          </a:xfrm>
        </p:spPr>
        <p:txBody>
          <a:bodyPr>
            <a:normAutofit/>
          </a:bodyPr>
          <a:lstStyle/>
          <a:p>
            <a:r>
              <a:rPr lang="en-US" sz="5400" dirty="0"/>
              <a:t>Mortgage Rates &amp; Affordability</a:t>
            </a:r>
            <a:endParaRPr lang="en-US" sz="5000" dirty="0"/>
          </a:p>
        </p:txBody>
      </p:sp>
      <p:sp>
        <p:nvSpPr>
          <p:cNvPr id="19" name="sketch line">
            <a:extLst>
              <a:ext uri="{FF2B5EF4-FFF2-40B4-BE49-F238E27FC236}">
                <a16:creationId xmlns:a16="http://schemas.microsoft.com/office/drawing/2014/main" id="{43906963-7694-25CF-7143-F37984178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64452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8C34E1-C983-D72E-F0DD-FA8F7A58E41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5BB166D-188A-9749-E129-4A9CF08B3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13892BC-B838-0EBB-9CE6-B92041741EEF}"/>
              </a:ext>
            </a:extLst>
          </p:cNvPr>
          <p:cNvSpPr>
            <a:spLocks noGrp="1"/>
          </p:cNvSpPr>
          <p:nvPr>
            <p:ph type="title"/>
          </p:nvPr>
        </p:nvSpPr>
        <p:spPr>
          <a:xfrm>
            <a:off x="838200" y="365125"/>
            <a:ext cx="10515600" cy="1325563"/>
          </a:xfrm>
        </p:spPr>
        <p:txBody>
          <a:bodyPr>
            <a:normAutofit/>
          </a:bodyPr>
          <a:lstStyle/>
          <a:p>
            <a:r>
              <a:rPr lang="en-US" sz="5400" dirty="0"/>
              <a:t>ZIP Code Affordability Differences</a:t>
            </a:r>
            <a:endParaRPr lang="en-US" sz="5000" dirty="0"/>
          </a:p>
        </p:txBody>
      </p:sp>
      <p:sp>
        <p:nvSpPr>
          <p:cNvPr id="19" name="sketch line">
            <a:extLst>
              <a:ext uri="{FF2B5EF4-FFF2-40B4-BE49-F238E27FC236}">
                <a16:creationId xmlns:a16="http://schemas.microsoft.com/office/drawing/2014/main" id="{E4A2A22C-7C26-0D10-5FAD-F56E81242C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4625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9FF664-8693-681C-36CA-9B24FCEE2D6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F220A47-9D43-9A86-2309-7BF2E0F090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872236-0092-44E2-42F3-D0FFBC7801D7}"/>
              </a:ext>
            </a:extLst>
          </p:cNvPr>
          <p:cNvSpPr>
            <a:spLocks noGrp="1"/>
          </p:cNvSpPr>
          <p:nvPr>
            <p:ph type="title"/>
          </p:nvPr>
        </p:nvSpPr>
        <p:spPr>
          <a:xfrm>
            <a:off x="838200" y="365125"/>
            <a:ext cx="10515600" cy="1325563"/>
          </a:xfrm>
        </p:spPr>
        <p:txBody>
          <a:bodyPr>
            <a:normAutofit/>
          </a:bodyPr>
          <a:lstStyle/>
          <a:p>
            <a:r>
              <a:rPr lang="en-US" sz="5400" dirty="0"/>
              <a:t>Key Findings</a:t>
            </a:r>
            <a:endParaRPr lang="en-US" sz="5000" dirty="0"/>
          </a:p>
        </p:txBody>
      </p:sp>
      <p:sp>
        <p:nvSpPr>
          <p:cNvPr id="19" name="sketch line">
            <a:extLst>
              <a:ext uri="{FF2B5EF4-FFF2-40B4-BE49-F238E27FC236}">
                <a16:creationId xmlns:a16="http://schemas.microsoft.com/office/drawing/2014/main" id="{8D71E955-3FD8-418D-38DF-AC095F32E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71100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3B1B37-3CEC-4929-8B05-514A33B4645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7627AB5-121B-2E44-2C36-5DCB8D564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21E8CED-2FC4-4AB1-9316-5EC71D806FF8}"/>
              </a:ext>
            </a:extLst>
          </p:cNvPr>
          <p:cNvSpPr>
            <a:spLocks noGrp="1"/>
          </p:cNvSpPr>
          <p:nvPr>
            <p:ph type="title"/>
          </p:nvPr>
        </p:nvSpPr>
        <p:spPr>
          <a:xfrm>
            <a:off x="838200" y="365125"/>
            <a:ext cx="10515600" cy="1325563"/>
          </a:xfrm>
        </p:spPr>
        <p:txBody>
          <a:bodyPr>
            <a:normAutofit/>
          </a:bodyPr>
          <a:lstStyle/>
          <a:p>
            <a:r>
              <a:rPr lang="en-US" sz="5000" dirty="0"/>
              <a:t>Limitations &amp; Next Steps</a:t>
            </a:r>
          </a:p>
        </p:txBody>
      </p:sp>
      <p:sp>
        <p:nvSpPr>
          <p:cNvPr id="19" name="sketch line">
            <a:extLst>
              <a:ext uri="{FF2B5EF4-FFF2-40B4-BE49-F238E27FC236}">
                <a16:creationId xmlns:a16="http://schemas.microsoft.com/office/drawing/2014/main" id="{09A60E60-03C5-2C94-4D54-2B5D03595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4449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527D56-13EA-15F6-0EE8-075557F14B3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64E8F23-9096-BB07-59E2-A56E2F657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E19932-3748-B970-1992-0517CEAD921D}"/>
              </a:ext>
            </a:extLst>
          </p:cNvPr>
          <p:cNvSpPr>
            <a:spLocks noGrp="1"/>
          </p:cNvSpPr>
          <p:nvPr>
            <p:ph type="title"/>
          </p:nvPr>
        </p:nvSpPr>
        <p:spPr>
          <a:xfrm>
            <a:off x="838200" y="365125"/>
            <a:ext cx="10515600" cy="1325563"/>
          </a:xfrm>
        </p:spPr>
        <p:txBody>
          <a:bodyPr>
            <a:normAutofit/>
          </a:bodyPr>
          <a:lstStyle/>
          <a:p>
            <a:r>
              <a:rPr lang="en-US" sz="5000" dirty="0"/>
              <a:t>Conclusion</a:t>
            </a:r>
          </a:p>
        </p:txBody>
      </p:sp>
      <p:sp>
        <p:nvSpPr>
          <p:cNvPr id="19" name="sketch line">
            <a:extLst>
              <a:ext uri="{FF2B5EF4-FFF2-40B4-BE49-F238E27FC236}">
                <a16:creationId xmlns:a16="http://schemas.microsoft.com/office/drawing/2014/main" id="{8CE5727C-00C0-1F08-580E-DB361AA87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34264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6164</TotalTime>
  <Words>510</Words>
  <Application>Microsoft Office PowerPoint</Application>
  <PresentationFormat>Widescreen</PresentationFormat>
  <Paragraphs>73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Housing Affordability in Metro Nashville During a Period of Market Disruption (2020–2023)</vt:lpstr>
      <vt:lpstr>Purpose of this Analysis</vt:lpstr>
      <vt:lpstr>Research Questions</vt:lpstr>
      <vt:lpstr>About the data</vt:lpstr>
      <vt:lpstr>Nashville Housing Market Metrix's </vt:lpstr>
      <vt:lpstr>Home Prices vs Income in Metro Nashville (2020–2023)</vt:lpstr>
      <vt:lpstr>The Price-to-Income Gap Has Widened in Metro Nashville (2020–2023)</vt:lpstr>
      <vt:lpstr>Housing Supply Trends</vt:lpstr>
      <vt:lpstr>Mortgage Rates &amp; Affordability</vt:lpstr>
      <vt:lpstr>ZIP Code Affordability Differences</vt:lpstr>
      <vt:lpstr>Key Findings</vt:lpstr>
      <vt:lpstr>Limitations &amp; Next Steps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Gaffney</dc:creator>
  <cp:lastModifiedBy>Luke Gaffney</cp:lastModifiedBy>
  <cp:revision>5</cp:revision>
  <dcterms:created xsi:type="dcterms:W3CDTF">2025-12-12T20:32:27Z</dcterms:created>
  <dcterms:modified xsi:type="dcterms:W3CDTF">2025-12-17T21:11:27Z</dcterms:modified>
</cp:coreProperties>
</file>