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93" r:id="rId4"/>
    <p:sldId id="278" r:id="rId5"/>
    <p:sldId id="277" r:id="rId6"/>
    <p:sldId id="280" r:id="rId7"/>
    <p:sldId id="282" r:id="rId8"/>
    <p:sldId id="283" r:id="rId9"/>
    <p:sldId id="284" r:id="rId10"/>
    <p:sldId id="290" r:id="rId11"/>
    <p:sldId id="288" r:id="rId12"/>
    <p:sldId id="287" r:id="rId13"/>
    <p:sldId id="286" r:id="rId14"/>
    <p:sldId id="285" r:id="rId15"/>
    <p:sldId id="29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AF7"/>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0D10D6-1D88-4B0E-87C1-EF36A8B2A437}" v="211" dt="2025-12-23T21:19:30.4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04" autoAdjust="0"/>
    <p:restoredTop sz="78365" autoAdjust="0"/>
  </p:normalViewPr>
  <p:slideViewPr>
    <p:cSldViewPr snapToGrid="0">
      <p:cViewPr varScale="1">
        <p:scale>
          <a:sx n="116" d="100"/>
          <a:sy n="116" d="100"/>
        </p:scale>
        <p:origin x="3300"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ke Gaffney" userId="6fa697cc8cd57f76" providerId="LiveId" clId="{528BD4CA-A453-43AA-8F73-3E975C3B2CFE}"/>
    <pc:docChg chg="undo custSel addSld delSld modSld">
      <pc:chgData name="Luke Gaffney" userId="6fa697cc8cd57f76" providerId="LiveId" clId="{528BD4CA-A453-43AA-8F73-3E975C3B2CFE}" dt="2025-12-23T21:21:07.073" v="3178" actId="20577"/>
      <pc:docMkLst>
        <pc:docMk/>
      </pc:docMkLst>
      <pc:sldChg chg="modSp mod setBg modNotesTx">
        <pc:chgData name="Luke Gaffney" userId="6fa697cc8cd57f76" providerId="LiveId" clId="{528BD4CA-A453-43AA-8F73-3E975C3B2CFE}" dt="2025-12-23T21:21:07.073" v="3178" actId="20577"/>
        <pc:sldMkLst>
          <pc:docMk/>
          <pc:sldMk cId="101415907" sldId="256"/>
        </pc:sldMkLst>
        <pc:spChg chg="mod">
          <ac:chgData name="Luke Gaffney" userId="6fa697cc8cd57f76" providerId="LiveId" clId="{528BD4CA-A453-43AA-8F73-3E975C3B2CFE}" dt="2025-12-23T17:53:16.697" v="2171" actId="1076"/>
          <ac:spMkLst>
            <pc:docMk/>
            <pc:sldMk cId="101415907" sldId="256"/>
            <ac:spMk id="2" creationId="{D5871A2F-1D02-6452-5157-8CB541F3456A}"/>
          </ac:spMkLst>
        </pc:spChg>
      </pc:sldChg>
      <pc:sldChg chg="modSp add del mod modNotesTx">
        <pc:chgData name="Luke Gaffney" userId="6fa697cc8cd57f76" providerId="LiveId" clId="{528BD4CA-A453-43AA-8F73-3E975C3B2CFE}" dt="2025-12-23T20:43:56.433" v="2843" actId="20577"/>
        <pc:sldMkLst>
          <pc:docMk/>
          <pc:sldMk cId="3484887589" sldId="257"/>
        </pc:sldMkLst>
        <pc:spChg chg="mod">
          <ac:chgData name="Luke Gaffney" userId="6fa697cc8cd57f76" providerId="LiveId" clId="{528BD4CA-A453-43AA-8F73-3E975C3B2CFE}" dt="2025-12-23T20:43:56.433" v="2843" actId="20577"/>
          <ac:spMkLst>
            <pc:docMk/>
            <pc:sldMk cId="3484887589" sldId="257"/>
            <ac:spMk id="2" creationId="{DE9FC05C-E79A-F5B5-327B-29607701820D}"/>
          </ac:spMkLst>
        </pc:spChg>
        <pc:spChg chg="mod">
          <ac:chgData name="Luke Gaffney" userId="6fa697cc8cd57f76" providerId="LiveId" clId="{528BD4CA-A453-43AA-8F73-3E975C3B2CFE}" dt="2025-12-23T20:43:36.892" v="2840"/>
          <ac:spMkLst>
            <pc:docMk/>
            <pc:sldMk cId="3484887589" sldId="257"/>
            <ac:spMk id="4" creationId="{35E1C994-818C-0ACC-C41E-5E01DA946D82}"/>
          </ac:spMkLst>
        </pc:spChg>
      </pc:sldChg>
      <pc:sldChg chg="addSp delSp modSp del mod modNotesTx">
        <pc:chgData name="Luke Gaffney" userId="6fa697cc8cd57f76" providerId="LiveId" clId="{528BD4CA-A453-43AA-8F73-3E975C3B2CFE}" dt="2025-12-23T16:25:20.548" v="2160" actId="2696"/>
        <pc:sldMkLst>
          <pc:docMk/>
          <pc:sldMk cId="4045112871" sldId="275"/>
        </pc:sldMkLst>
        <pc:spChg chg="del mod">
          <ac:chgData name="Luke Gaffney" userId="6fa697cc8cd57f76" providerId="LiveId" clId="{528BD4CA-A453-43AA-8F73-3E975C3B2CFE}" dt="2025-12-23T16:24:39.558" v="2155"/>
          <ac:spMkLst>
            <pc:docMk/>
            <pc:sldMk cId="4045112871" sldId="275"/>
            <ac:spMk id="4" creationId="{337C5CAA-78BD-6151-0CC5-8CA452F48391}"/>
          </ac:spMkLst>
        </pc:spChg>
      </pc:sldChg>
      <pc:sldChg chg="addSp delSp modSp mod setBg modNotesTx">
        <pc:chgData name="Luke Gaffney" userId="6fa697cc8cd57f76" providerId="LiveId" clId="{528BD4CA-A453-43AA-8F73-3E975C3B2CFE}" dt="2025-12-23T21:18:46.827" v="2848"/>
        <pc:sldMkLst>
          <pc:docMk/>
          <pc:sldMk cId="542633763" sldId="277"/>
        </pc:sldMkLst>
        <pc:spChg chg="mod">
          <ac:chgData name="Luke Gaffney" userId="6fa697cc8cd57f76" providerId="LiveId" clId="{528BD4CA-A453-43AA-8F73-3E975C3B2CFE}" dt="2025-12-18T20:12:38.193" v="974" actId="113"/>
          <ac:spMkLst>
            <pc:docMk/>
            <pc:sldMk cId="542633763" sldId="277"/>
            <ac:spMk id="2" creationId="{AFB1300D-AC32-6A7E-3302-C38583BC0E9A}"/>
          </ac:spMkLst>
        </pc:spChg>
        <pc:spChg chg="add mod">
          <ac:chgData name="Luke Gaffney" userId="6fa697cc8cd57f76" providerId="LiveId" clId="{528BD4CA-A453-43AA-8F73-3E975C3B2CFE}" dt="2025-12-19T16:03:45.807" v="1413" actId="1076"/>
          <ac:spMkLst>
            <pc:docMk/>
            <pc:sldMk cId="542633763" sldId="277"/>
            <ac:spMk id="3" creationId="{BD7F736E-6940-81F4-8CCE-71C9F3341512}"/>
          </ac:spMkLst>
        </pc:spChg>
        <pc:spChg chg="add mod">
          <ac:chgData name="Luke Gaffney" userId="6fa697cc8cd57f76" providerId="LiveId" clId="{528BD4CA-A453-43AA-8F73-3E975C3B2CFE}" dt="2025-12-19T16:03:49.932" v="1415" actId="20577"/>
          <ac:spMkLst>
            <pc:docMk/>
            <pc:sldMk cId="542633763" sldId="277"/>
            <ac:spMk id="4" creationId="{E493CBD1-94BF-5E0A-77DB-FF5C226FD519}"/>
          </ac:spMkLst>
        </pc:spChg>
        <pc:spChg chg="add mod">
          <ac:chgData name="Luke Gaffney" userId="6fa697cc8cd57f76" providerId="LiveId" clId="{528BD4CA-A453-43AA-8F73-3E975C3B2CFE}" dt="2025-12-22T13:29:00.713" v="1938" actId="113"/>
          <ac:spMkLst>
            <pc:docMk/>
            <pc:sldMk cId="542633763" sldId="277"/>
            <ac:spMk id="5" creationId="{7188F6DC-749C-0E58-9C52-708EB0881C1C}"/>
          </ac:spMkLst>
        </pc:spChg>
        <pc:spChg chg="add mod">
          <ac:chgData name="Luke Gaffney" userId="6fa697cc8cd57f76" providerId="LiveId" clId="{528BD4CA-A453-43AA-8F73-3E975C3B2CFE}" dt="2025-12-19T16:11:54.100" v="1509" actId="554"/>
          <ac:spMkLst>
            <pc:docMk/>
            <pc:sldMk cId="542633763" sldId="277"/>
            <ac:spMk id="6" creationId="{E9D36018-8142-2EDD-EF2A-A6BBC8C171D8}"/>
          </ac:spMkLst>
        </pc:spChg>
        <pc:spChg chg="add mod">
          <ac:chgData name="Luke Gaffney" userId="6fa697cc8cd57f76" providerId="LiveId" clId="{528BD4CA-A453-43AA-8F73-3E975C3B2CFE}" dt="2025-12-22T13:29:05.562" v="1939" actId="113"/>
          <ac:spMkLst>
            <pc:docMk/>
            <pc:sldMk cId="542633763" sldId="277"/>
            <ac:spMk id="7" creationId="{29E4D0B8-5AD9-3177-AEEB-D8BF77B12F2A}"/>
          </ac:spMkLst>
        </pc:spChg>
        <pc:spChg chg="add mod">
          <ac:chgData name="Luke Gaffney" userId="6fa697cc8cd57f76" providerId="LiveId" clId="{528BD4CA-A453-43AA-8F73-3E975C3B2CFE}" dt="2025-12-19T16:11:56.909" v="1510" actId="408"/>
          <ac:spMkLst>
            <pc:docMk/>
            <pc:sldMk cId="542633763" sldId="277"/>
            <ac:spMk id="8" creationId="{C50D66DC-6DC7-0FFF-14AB-BE095496AAF2}"/>
          </ac:spMkLst>
        </pc:spChg>
        <pc:spChg chg="add mod">
          <ac:chgData name="Luke Gaffney" userId="6fa697cc8cd57f76" providerId="LiveId" clId="{528BD4CA-A453-43AA-8F73-3E975C3B2CFE}" dt="2025-12-22T13:30:08.878" v="1944" actId="114"/>
          <ac:spMkLst>
            <pc:docMk/>
            <pc:sldMk cId="542633763" sldId="277"/>
            <ac:spMk id="9" creationId="{3C7FBA32-85DE-EFE7-0D4A-994A972D3294}"/>
          </ac:spMkLst>
        </pc:spChg>
        <pc:spChg chg="mod">
          <ac:chgData name="Luke Gaffney" userId="6fa697cc8cd57f76" providerId="LiveId" clId="{528BD4CA-A453-43AA-8F73-3E975C3B2CFE}" dt="2025-12-19T16:38:08.701" v="1612" actId="208"/>
          <ac:spMkLst>
            <pc:docMk/>
            <pc:sldMk cId="542633763" sldId="277"/>
            <ac:spMk id="50" creationId="{7B064B8D-B47F-4375-2B50-CF6CF3893C03}"/>
          </ac:spMkLst>
        </pc:spChg>
        <pc:spChg chg="mod">
          <ac:chgData name="Luke Gaffney" userId="6fa697cc8cd57f76" providerId="LiveId" clId="{528BD4CA-A453-43AA-8F73-3E975C3B2CFE}" dt="2025-12-19T16:38:33.175" v="1617" actId="208"/>
          <ac:spMkLst>
            <pc:docMk/>
            <pc:sldMk cId="542633763" sldId="277"/>
            <ac:spMk id="53" creationId="{A0F0684F-4197-6064-55B4-98EB35BEC608}"/>
          </ac:spMkLst>
        </pc:spChg>
        <pc:spChg chg="mod">
          <ac:chgData name="Luke Gaffney" userId="6fa697cc8cd57f76" providerId="LiveId" clId="{528BD4CA-A453-43AA-8F73-3E975C3B2CFE}" dt="2025-12-19T16:38:14.740" v="1613" actId="208"/>
          <ac:spMkLst>
            <pc:docMk/>
            <pc:sldMk cId="542633763" sldId="277"/>
            <ac:spMk id="54" creationId="{1EDDE1D7-883C-62FF-3687-9FBB1577874D}"/>
          </ac:spMkLst>
        </pc:spChg>
        <pc:spChg chg="mod">
          <ac:chgData name="Luke Gaffney" userId="6fa697cc8cd57f76" providerId="LiveId" clId="{528BD4CA-A453-43AA-8F73-3E975C3B2CFE}" dt="2025-12-19T16:38:41.250" v="1619" actId="208"/>
          <ac:spMkLst>
            <pc:docMk/>
            <pc:sldMk cId="542633763" sldId="277"/>
            <ac:spMk id="55" creationId="{F9704708-6D90-46C9-1CAE-40013BD95D43}"/>
          </ac:spMkLst>
        </pc:spChg>
        <pc:spChg chg="mod">
          <ac:chgData name="Luke Gaffney" userId="6fa697cc8cd57f76" providerId="LiveId" clId="{528BD4CA-A453-43AA-8F73-3E975C3B2CFE}" dt="2025-12-19T16:38:24.953" v="1615" actId="208"/>
          <ac:spMkLst>
            <pc:docMk/>
            <pc:sldMk cId="542633763" sldId="277"/>
            <ac:spMk id="56" creationId="{F92D9006-4F0B-4761-2C1A-A8C48A31A008}"/>
          </ac:spMkLst>
        </pc:spChg>
        <pc:spChg chg="mod">
          <ac:chgData name="Luke Gaffney" userId="6fa697cc8cd57f76" providerId="LiveId" clId="{528BD4CA-A453-43AA-8F73-3E975C3B2CFE}" dt="2025-12-19T16:38:29.285" v="1616" actId="208"/>
          <ac:spMkLst>
            <pc:docMk/>
            <pc:sldMk cId="542633763" sldId="277"/>
            <ac:spMk id="57" creationId="{32D69E2D-ACD2-E3BF-DC2D-FE6E5D6DFB26}"/>
          </ac:spMkLst>
        </pc:spChg>
        <pc:spChg chg="mod">
          <ac:chgData name="Luke Gaffney" userId="6fa697cc8cd57f76" providerId="LiveId" clId="{528BD4CA-A453-43AA-8F73-3E975C3B2CFE}" dt="2025-12-19T16:38:37.291" v="1618" actId="208"/>
          <ac:spMkLst>
            <pc:docMk/>
            <pc:sldMk cId="542633763" sldId="277"/>
            <ac:spMk id="58" creationId="{A2B05C51-F692-ADF1-1A14-326A496A24C3}"/>
          </ac:spMkLst>
        </pc:spChg>
        <pc:spChg chg="mod">
          <ac:chgData name="Luke Gaffney" userId="6fa697cc8cd57f76" providerId="LiveId" clId="{528BD4CA-A453-43AA-8F73-3E975C3B2CFE}" dt="2025-12-19T16:38:21.695" v="1614" actId="208"/>
          <ac:spMkLst>
            <pc:docMk/>
            <pc:sldMk cId="542633763" sldId="277"/>
            <ac:spMk id="60" creationId="{9BFF97D0-ED64-E128-C274-C00499EFFAE4}"/>
          </ac:spMkLst>
        </pc:spChg>
        <pc:spChg chg="mod">
          <ac:chgData name="Luke Gaffney" userId="6fa697cc8cd57f76" providerId="LiveId" clId="{528BD4CA-A453-43AA-8F73-3E975C3B2CFE}" dt="2025-12-20T01:38:31.975" v="1738" actId="20577"/>
          <ac:spMkLst>
            <pc:docMk/>
            <pc:sldMk cId="542633763" sldId="277"/>
            <ac:spMk id="62" creationId="{EC08A544-DE54-C799-B423-36CDCF2C5E78}"/>
          </ac:spMkLst>
        </pc:spChg>
        <pc:spChg chg="mod">
          <ac:chgData name="Luke Gaffney" userId="6fa697cc8cd57f76" providerId="LiveId" clId="{528BD4CA-A453-43AA-8F73-3E975C3B2CFE}" dt="2025-12-20T01:38:38.957" v="1750" actId="20577"/>
          <ac:spMkLst>
            <pc:docMk/>
            <pc:sldMk cId="542633763" sldId="277"/>
            <ac:spMk id="63" creationId="{5CDB8C99-1CCB-5587-C46B-2A5DF5A29899}"/>
          </ac:spMkLst>
        </pc:spChg>
        <pc:spChg chg="mod">
          <ac:chgData name="Luke Gaffney" userId="6fa697cc8cd57f76" providerId="LiveId" clId="{528BD4CA-A453-43AA-8F73-3E975C3B2CFE}" dt="2025-12-20T13:40:53.595" v="1826" actId="20577"/>
          <ac:spMkLst>
            <pc:docMk/>
            <pc:sldMk cId="542633763" sldId="277"/>
            <ac:spMk id="65" creationId="{40D337F7-9BCF-4A96-AD0F-AE467E9DF863}"/>
          </ac:spMkLst>
        </pc:spChg>
        <pc:spChg chg="mod">
          <ac:chgData name="Luke Gaffney" userId="6fa697cc8cd57f76" providerId="LiveId" clId="{528BD4CA-A453-43AA-8F73-3E975C3B2CFE}" dt="2025-12-22T13:28:19.515" v="1920" actId="20577"/>
          <ac:spMkLst>
            <pc:docMk/>
            <pc:sldMk cId="542633763" sldId="277"/>
            <ac:spMk id="67" creationId="{CD7201A7-9E3A-067E-7422-34FDC06F2DFB}"/>
          </ac:spMkLst>
        </pc:spChg>
      </pc:sldChg>
      <pc:sldChg chg="addSp delSp modSp mod setBg modNotesTx">
        <pc:chgData name="Luke Gaffney" userId="6fa697cc8cd57f76" providerId="LiveId" clId="{528BD4CA-A453-43AA-8F73-3E975C3B2CFE}" dt="2025-12-23T21:18:41.826" v="2847"/>
        <pc:sldMkLst>
          <pc:docMk/>
          <pc:sldMk cId="835599444" sldId="278"/>
        </pc:sldMkLst>
        <pc:spChg chg="mod">
          <ac:chgData name="Luke Gaffney" userId="6fa697cc8cd57f76" providerId="LiveId" clId="{528BD4CA-A453-43AA-8F73-3E975C3B2CFE}" dt="2025-12-18T20:12:34.010" v="973" actId="113"/>
          <ac:spMkLst>
            <pc:docMk/>
            <pc:sldMk cId="835599444" sldId="278"/>
            <ac:spMk id="2" creationId="{0D3BA9AF-2BD7-97AC-F960-51216C2F9482}"/>
          </ac:spMkLst>
        </pc:spChg>
        <pc:spChg chg="add mod">
          <ac:chgData name="Luke Gaffney" userId="6fa697cc8cd57f76" providerId="LiveId" clId="{528BD4CA-A453-43AA-8F73-3E975C3B2CFE}" dt="2025-12-23T20:27:11.049" v="2835" actId="20577"/>
          <ac:spMkLst>
            <pc:docMk/>
            <pc:sldMk cId="835599444" sldId="278"/>
            <ac:spMk id="61" creationId="{BFD046D5-C800-2F5C-68F0-9AD62A89727F}"/>
          </ac:spMkLst>
        </pc:spChg>
      </pc:sldChg>
      <pc:sldChg chg="addSp delSp modSp mod setBg modNotesTx">
        <pc:chgData name="Luke Gaffney" userId="6fa697cc8cd57f76" providerId="LiveId" clId="{528BD4CA-A453-43AA-8F73-3E975C3B2CFE}" dt="2025-12-23T21:18:51.322" v="2849"/>
        <pc:sldMkLst>
          <pc:docMk/>
          <pc:sldMk cId="1987554360" sldId="280"/>
        </pc:sldMkLst>
        <pc:spChg chg="mod">
          <ac:chgData name="Luke Gaffney" userId="6fa697cc8cd57f76" providerId="LiveId" clId="{528BD4CA-A453-43AA-8F73-3E975C3B2CFE}" dt="2025-12-18T20:11:57.458" v="968" actId="255"/>
          <ac:spMkLst>
            <pc:docMk/>
            <pc:sldMk cId="1987554360" sldId="280"/>
            <ac:spMk id="2" creationId="{29061BB3-7E15-2851-2DDF-7643C2B84269}"/>
          </ac:spMkLst>
        </pc:spChg>
        <pc:spChg chg="add mod">
          <ac:chgData name="Luke Gaffney" userId="6fa697cc8cd57f76" providerId="LiveId" clId="{528BD4CA-A453-43AA-8F73-3E975C3B2CFE}" dt="2025-12-22T13:30:24.369" v="1953"/>
          <ac:spMkLst>
            <pc:docMk/>
            <pc:sldMk cId="1987554360" sldId="280"/>
            <ac:spMk id="7" creationId="{F8680954-FCF1-9813-090F-D0E3B62B1BC5}"/>
          </ac:spMkLst>
        </pc:spChg>
        <pc:spChg chg="add mod">
          <ac:chgData name="Luke Gaffney" userId="6fa697cc8cd57f76" providerId="LiveId" clId="{528BD4CA-A453-43AA-8F73-3E975C3B2CFE}" dt="2025-12-22T13:34:51.592" v="1973" actId="1076"/>
          <ac:spMkLst>
            <pc:docMk/>
            <pc:sldMk cId="1987554360" sldId="280"/>
            <ac:spMk id="21" creationId="{600A8C6F-BFC4-607E-3627-E251A8A378A6}"/>
          </ac:spMkLst>
        </pc:spChg>
        <pc:picChg chg="add mod">
          <ac:chgData name="Luke Gaffney" userId="6fa697cc8cd57f76" providerId="LiveId" clId="{528BD4CA-A453-43AA-8F73-3E975C3B2CFE}" dt="2025-12-20T14:48:11.377" v="1866" actId="14100"/>
          <ac:picMkLst>
            <pc:docMk/>
            <pc:sldMk cId="1987554360" sldId="280"/>
            <ac:picMk id="9" creationId="{6FF178BC-FBD3-AB90-954C-F71B135174E3}"/>
          </ac:picMkLst>
        </pc:picChg>
      </pc:sldChg>
      <pc:sldChg chg="addSp delSp modSp mod setBg modNotesTx">
        <pc:chgData name="Luke Gaffney" userId="6fa697cc8cd57f76" providerId="LiveId" clId="{528BD4CA-A453-43AA-8F73-3E975C3B2CFE}" dt="2025-12-23T21:18:55.376" v="2850"/>
        <pc:sldMkLst>
          <pc:docMk/>
          <pc:sldMk cId="2767592310" sldId="282"/>
        </pc:sldMkLst>
        <pc:spChg chg="mod">
          <ac:chgData name="Luke Gaffney" userId="6fa697cc8cd57f76" providerId="LiveId" clId="{528BD4CA-A453-43AA-8F73-3E975C3B2CFE}" dt="2025-12-18T19:31:11.300" v="682" actId="255"/>
          <ac:spMkLst>
            <pc:docMk/>
            <pc:sldMk cId="2767592310" sldId="282"/>
            <ac:spMk id="2" creationId="{9CD3A3AA-476B-A498-4856-A7F18AA6D853}"/>
          </ac:spMkLst>
        </pc:spChg>
        <pc:spChg chg="add mod">
          <ac:chgData name="Luke Gaffney" userId="6fa697cc8cd57f76" providerId="LiveId" clId="{528BD4CA-A453-43AA-8F73-3E975C3B2CFE}" dt="2025-12-22T13:30:51.083" v="1961"/>
          <ac:spMkLst>
            <pc:docMk/>
            <pc:sldMk cId="2767592310" sldId="282"/>
            <ac:spMk id="5" creationId="{02DDFBE0-D271-E4EC-47A5-AABCE4FE7865}"/>
          </ac:spMkLst>
        </pc:spChg>
        <pc:spChg chg="mod">
          <ac:chgData name="Luke Gaffney" userId="6fa697cc8cd57f76" providerId="LiveId" clId="{528BD4CA-A453-43AA-8F73-3E975C3B2CFE}" dt="2025-12-23T20:21:23.712" v="2828" actId="1076"/>
          <ac:spMkLst>
            <pc:docMk/>
            <pc:sldMk cId="2767592310" sldId="282"/>
            <ac:spMk id="6" creationId="{7C17B134-C5BC-C626-F537-43616E13A7E1}"/>
          </ac:spMkLst>
        </pc:spChg>
        <pc:spChg chg="add mod">
          <ac:chgData name="Luke Gaffney" userId="6fa697cc8cd57f76" providerId="LiveId" clId="{528BD4CA-A453-43AA-8F73-3E975C3B2CFE}" dt="2025-12-18T20:29:05.070" v="1112" actId="1076"/>
          <ac:spMkLst>
            <pc:docMk/>
            <pc:sldMk cId="2767592310" sldId="282"/>
            <ac:spMk id="10" creationId="{0C14E7C4-BD1E-A981-A7EF-4E5642FCA054}"/>
          </ac:spMkLst>
        </pc:spChg>
        <pc:spChg chg="add mod">
          <ac:chgData name="Luke Gaffney" userId="6fa697cc8cd57f76" providerId="LiveId" clId="{528BD4CA-A453-43AA-8F73-3E975C3B2CFE}" dt="2025-12-18T20:29:23.438" v="1117" actId="1076"/>
          <ac:spMkLst>
            <pc:docMk/>
            <pc:sldMk cId="2767592310" sldId="282"/>
            <ac:spMk id="11" creationId="{B14B5E4F-FAE5-273D-4212-BDC05E0394AC}"/>
          </ac:spMkLst>
        </pc:spChg>
        <pc:spChg chg="add mod">
          <ac:chgData name="Luke Gaffney" userId="6fa697cc8cd57f76" providerId="LiveId" clId="{528BD4CA-A453-43AA-8F73-3E975C3B2CFE}" dt="2025-12-18T20:29:35.177" v="1119" actId="1076"/>
          <ac:spMkLst>
            <pc:docMk/>
            <pc:sldMk cId="2767592310" sldId="282"/>
            <ac:spMk id="12" creationId="{106330F7-4175-F54E-5BFC-7E5FDF1409EC}"/>
          </ac:spMkLst>
        </pc:spChg>
        <pc:picChg chg="add mod">
          <ac:chgData name="Luke Gaffney" userId="6fa697cc8cd57f76" providerId="LiveId" clId="{528BD4CA-A453-43AA-8F73-3E975C3B2CFE}" dt="2025-12-20T14:48:53.374" v="1875" actId="1076"/>
          <ac:picMkLst>
            <pc:docMk/>
            <pc:sldMk cId="2767592310" sldId="282"/>
            <ac:picMk id="9" creationId="{5C497C67-C0A9-CB4E-1F9E-3062ED8BA593}"/>
          </ac:picMkLst>
        </pc:picChg>
        <pc:cxnChg chg="add mod">
          <ac:chgData name="Luke Gaffney" userId="6fa697cc8cd57f76" providerId="LiveId" clId="{528BD4CA-A453-43AA-8F73-3E975C3B2CFE}" dt="2025-12-18T20:29:12.594" v="1114" actId="1076"/>
          <ac:cxnSpMkLst>
            <pc:docMk/>
            <pc:sldMk cId="2767592310" sldId="282"/>
            <ac:cxnSpMk id="14" creationId="{8B58EA03-6D38-5D8F-C94A-F215E27DE5F9}"/>
          </ac:cxnSpMkLst>
        </pc:cxnChg>
      </pc:sldChg>
      <pc:sldChg chg="addSp delSp modSp mod setBg modNotesTx">
        <pc:chgData name="Luke Gaffney" userId="6fa697cc8cd57f76" providerId="LiveId" clId="{528BD4CA-A453-43AA-8F73-3E975C3B2CFE}" dt="2025-12-23T21:19:00.276" v="2851"/>
        <pc:sldMkLst>
          <pc:docMk/>
          <pc:sldMk cId="2267194495" sldId="283"/>
        </pc:sldMkLst>
        <pc:spChg chg="mod">
          <ac:chgData name="Luke Gaffney" userId="6fa697cc8cd57f76" providerId="LiveId" clId="{528BD4CA-A453-43AA-8F73-3E975C3B2CFE}" dt="2025-12-18T20:12:55.663" v="976" actId="113"/>
          <ac:spMkLst>
            <pc:docMk/>
            <pc:sldMk cId="2267194495" sldId="283"/>
            <ac:spMk id="2" creationId="{FF5C7DD5-93F4-87B9-7BE2-CF7C4DD653E2}"/>
          </ac:spMkLst>
        </pc:spChg>
        <pc:spChg chg="add mod">
          <ac:chgData name="Luke Gaffney" userId="6fa697cc8cd57f76" providerId="LiveId" clId="{528BD4CA-A453-43AA-8F73-3E975C3B2CFE}" dt="2025-12-22T13:30:40.917" v="1959"/>
          <ac:spMkLst>
            <pc:docMk/>
            <pc:sldMk cId="2267194495" sldId="283"/>
            <ac:spMk id="5" creationId="{47234CCC-923A-7AC6-E216-680BA1BD92B6}"/>
          </ac:spMkLst>
        </pc:spChg>
        <pc:spChg chg="add mod">
          <ac:chgData name="Luke Gaffney" userId="6fa697cc8cd57f76" providerId="LiveId" clId="{528BD4CA-A453-43AA-8F73-3E975C3B2CFE}" dt="2025-12-23T19:20:30.645" v="2317" actId="20577"/>
          <ac:spMkLst>
            <pc:docMk/>
            <pc:sldMk cId="2267194495" sldId="283"/>
            <ac:spMk id="8" creationId="{9D29D358-04B9-5357-361B-0994D1A9FA6E}"/>
          </ac:spMkLst>
        </pc:spChg>
        <pc:picChg chg="add mod">
          <ac:chgData name="Luke Gaffney" userId="6fa697cc8cd57f76" providerId="LiveId" clId="{528BD4CA-A453-43AA-8F73-3E975C3B2CFE}" dt="2025-12-20T14:49:25.022" v="1884" actId="14100"/>
          <ac:picMkLst>
            <pc:docMk/>
            <pc:sldMk cId="2267194495" sldId="283"/>
            <ac:picMk id="9" creationId="{447BF319-110E-8C7E-255E-0BF26EF164F3}"/>
          </ac:picMkLst>
        </pc:picChg>
      </pc:sldChg>
      <pc:sldChg chg="addSp delSp modSp mod setBg modNotesTx">
        <pc:chgData name="Luke Gaffney" userId="6fa697cc8cd57f76" providerId="LiveId" clId="{528BD4CA-A453-43AA-8F73-3E975C3B2CFE}" dt="2025-12-23T21:19:04.985" v="2852"/>
        <pc:sldMkLst>
          <pc:docMk/>
          <pc:sldMk cId="3664452497" sldId="284"/>
        </pc:sldMkLst>
        <pc:spChg chg="mod">
          <ac:chgData name="Luke Gaffney" userId="6fa697cc8cd57f76" providerId="LiveId" clId="{528BD4CA-A453-43AA-8F73-3E975C3B2CFE}" dt="2025-12-23T16:26:52.788" v="2164" actId="255"/>
          <ac:spMkLst>
            <pc:docMk/>
            <pc:sldMk cId="3664452497" sldId="284"/>
            <ac:spMk id="2" creationId="{51F9CD1A-A750-7D78-ECE6-CEB7E83AE85A}"/>
          </ac:spMkLst>
        </pc:spChg>
        <pc:spChg chg="add mod">
          <ac:chgData name="Luke Gaffney" userId="6fa697cc8cd57f76" providerId="LiveId" clId="{528BD4CA-A453-43AA-8F73-3E975C3B2CFE}" dt="2025-12-22T13:36:41.885" v="1977"/>
          <ac:spMkLst>
            <pc:docMk/>
            <pc:sldMk cId="3664452497" sldId="284"/>
            <ac:spMk id="5" creationId="{44BA4203-4B1F-29D4-9B45-1F495A7BBED2}"/>
          </ac:spMkLst>
        </pc:spChg>
        <pc:spChg chg="add mod">
          <ac:chgData name="Luke Gaffney" userId="6fa697cc8cd57f76" providerId="LiveId" clId="{528BD4CA-A453-43AA-8F73-3E975C3B2CFE}" dt="2025-12-22T13:31:09.968" v="1964"/>
          <ac:spMkLst>
            <pc:docMk/>
            <pc:sldMk cId="3664452497" sldId="284"/>
            <ac:spMk id="7" creationId="{CD2A6343-3F32-E1BA-2F4E-58ECF4E926AE}"/>
          </ac:spMkLst>
        </pc:spChg>
        <pc:picChg chg="add mod">
          <ac:chgData name="Luke Gaffney" userId="6fa697cc8cd57f76" providerId="LiveId" clId="{528BD4CA-A453-43AA-8F73-3E975C3B2CFE}" dt="2025-12-20T14:52:45.810" v="1912" actId="1076"/>
          <ac:picMkLst>
            <pc:docMk/>
            <pc:sldMk cId="3664452497" sldId="284"/>
            <ac:picMk id="9" creationId="{720FA8DA-5597-C22F-4496-52547033AAB2}"/>
          </ac:picMkLst>
        </pc:picChg>
      </pc:sldChg>
      <pc:sldChg chg="addSp modSp mod setBg modNotesTx">
        <pc:chgData name="Luke Gaffney" userId="6fa697cc8cd57f76" providerId="LiveId" clId="{528BD4CA-A453-43AA-8F73-3E975C3B2CFE}" dt="2025-12-23T21:19:26.128" v="2857"/>
        <pc:sldMkLst>
          <pc:docMk/>
          <pc:sldMk cId="3434264560" sldId="285"/>
        </pc:sldMkLst>
        <pc:spChg chg="mod">
          <ac:chgData name="Luke Gaffney" userId="6fa697cc8cd57f76" providerId="LiveId" clId="{528BD4CA-A453-43AA-8F73-3E975C3B2CFE}" dt="2025-12-18T20:13:41.767" v="988" actId="255"/>
          <ac:spMkLst>
            <pc:docMk/>
            <pc:sldMk cId="3434264560" sldId="285"/>
            <ac:spMk id="2" creationId="{B0E19932-3748-B970-1992-0517CEAD921D}"/>
          </ac:spMkLst>
        </pc:spChg>
        <pc:spChg chg="add mod">
          <ac:chgData name="Luke Gaffney" userId="6fa697cc8cd57f76" providerId="LiveId" clId="{528BD4CA-A453-43AA-8F73-3E975C3B2CFE}" dt="2025-12-23T19:27:10.170" v="2352" actId="20577"/>
          <ac:spMkLst>
            <pc:docMk/>
            <pc:sldMk cId="3434264560" sldId="285"/>
            <ac:spMk id="3" creationId="{8A614149-FDAB-936D-306E-4186EFF4198E}"/>
          </ac:spMkLst>
        </pc:spChg>
      </pc:sldChg>
      <pc:sldChg chg="addSp modSp mod setBg modNotesTx">
        <pc:chgData name="Luke Gaffney" userId="6fa697cc8cd57f76" providerId="LiveId" clId="{528BD4CA-A453-43AA-8F73-3E975C3B2CFE}" dt="2025-12-23T21:19:22.479" v="2856"/>
        <pc:sldMkLst>
          <pc:docMk/>
          <pc:sldMk cId="3314449408" sldId="286"/>
        </pc:sldMkLst>
        <pc:spChg chg="mod">
          <ac:chgData name="Luke Gaffney" userId="6fa697cc8cd57f76" providerId="LiveId" clId="{528BD4CA-A453-43AA-8F73-3E975C3B2CFE}" dt="2025-12-18T20:13:35.248" v="986" actId="113"/>
          <ac:spMkLst>
            <pc:docMk/>
            <pc:sldMk cId="3314449408" sldId="286"/>
            <ac:spMk id="2" creationId="{321E8CED-2FC4-4AB1-9316-5EC71D806FF8}"/>
          </ac:spMkLst>
        </pc:spChg>
        <pc:spChg chg="add mod">
          <ac:chgData name="Luke Gaffney" userId="6fa697cc8cd57f76" providerId="LiveId" clId="{528BD4CA-A453-43AA-8F73-3E975C3B2CFE}" dt="2025-12-19T17:00:16.004" v="1632" actId="20577"/>
          <ac:spMkLst>
            <pc:docMk/>
            <pc:sldMk cId="3314449408" sldId="286"/>
            <ac:spMk id="4" creationId="{85D7D54C-61CE-1353-4D47-22F7C28900B4}"/>
          </ac:spMkLst>
        </pc:spChg>
      </pc:sldChg>
      <pc:sldChg chg="addSp delSp modSp mod setBg modNotesTx">
        <pc:chgData name="Luke Gaffney" userId="6fa697cc8cd57f76" providerId="LiveId" clId="{528BD4CA-A453-43AA-8F73-3E975C3B2CFE}" dt="2025-12-23T21:19:18.045" v="2855"/>
        <pc:sldMkLst>
          <pc:docMk/>
          <pc:sldMk cId="2071100020" sldId="287"/>
        </pc:sldMkLst>
        <pc:spChg chg="mod">
          <ac:chgData name="Luke Gaffney" userId="6fa697cc8cd57f76" providerId="LiveId" clId="{528BD4CA-A453-43AA-8F73-3E975C3B2CFE}" dt="2025-12-18T20:13:28.121" v="984" actId="113"/>
          <ac:spMkLst>
            <pc:docMk/>
            <pc:sldMk cId="2071100020" sldId="287"/>
            <ac:spMk id="2" creationId="{B0872236-0092-44E2-42F3-D0FFBC7801D7}"/>
          </ac:spMkLst>
        </pc:spChg>
        <pc:spChg chg="add mod">
          <ac:chgData name="Luke Gaffney" userId="6fa697cc8cd57f76" providerId="LiveId" clId="{528BD4CA-A453-43AA-8F73-3E975C3B2CFE}" dt="2025-12-23T19:25:37.908" v="2348" actId="20577"/>
          <ac:spMkLst>
            <pc:docMk/>
            <pc:sldMk cId="2071100020" sldId="287"/>
            <ac:spMk id="6" creationId="{B003664B-4843-8B17-5A4C-50D54A7CADC5}"/>
          </ac:spMkLst>
        </pc:spChg>
      </pc:sldChg>
      <pc:sldChg chg="addSp delSp modSp mod setBg modNotesTx">
        <pc:chgData name="Luke Gaffney" userId="6fa697cc8cd57f76" providerId="LiveId" clId="{528BD4CA-A453-43AA-8F73-3E975C3B2CFE}" dt="2025-12-23T21:19:13.624" v="2854"/>
        <pc:sldMkLst>
          <pc:docMk/>
          <pc:sldMk cId="3684625901" sldId="288"/>
        </pc:sldMkLst>
        <pc:spChg chg="mod">
          <ac:chgData name="Luke Gaffney" userId="6fa697cc8cd57f76" providerId="LiveId" clId="{528BD4CA-A453-43AA-8F73-3E975C3B2CFE}" dt="2025-12-18T21:02:26.060" v="1159" actId="255"/>
          <ac:spMkLst>
            <pc:docMk/>
            <pc:sldMk cId="3684625901" sldId="288"/>
            <ac:spMk id="2" creationId="{D13892BC-B838-0EBB-9CE6-B92041741EEF}"/>
          </ac:spMkLst>
        </pc:spChg>
        <pc:spChg chg="add mod">
          <ac:chgData name="Luke Gaffney" userId="6fa697cc8cd57f76" providerId="LiveId" clId="{528BD4CA-A453-43AA-8F73-3E975C3B2CFE}" dt="2025-12-23T19:24:41.138" v="2345" actId="1076"/>
          <ac:spMkLst>
            <pc:docMk/>
            <pc:sldMk cId="3684625901" sldId="288"/>
            <ac:spMk id="5" creationId="{FD65859E-3885-553F-D101-4DA042CB4B7F}"/>
          </ac:spMkLst>
        </pc:spChg>
        <pc:spChg chg="add mod">
          <ac:chgData name="Luke Gaffney" userId="6fa697cc8cd57f76" providerId="LiveId" clId="{528BD4CA-A453-43AA-8F73-3E975C3B2CFE}" dt="2025-12-22T13:31:24.977" v="1969"/>
          <ac:spMkLst>
            <pc:docMk/>
            <pc:sldMk cId="3684625901" sldId="288"/>
            <ac:spMk id="7" creationId="{AAB38F1D-65AE-4A13-42AF-46651D5EDEFA}"/>
          </ac:spMkLst>
        </pc:spChg>
        <pc:picChg chg="add mod">
          <ac:chgData name="Luke Gaffney" userId="6fa697cc8cd57f76" providerId="LiveId" clId="{528BD4CA-A453-43AA-8F73-3E975C3B2CFE}" dt="2025-12-20T14:50:52.421" v="1909" actId="1076"/>
          <ac:picMkLst>
            <pc:docMk/>
            <pc:sldMk cId="3684625901" sldId="288"/>
            <ac:picMk id="9" creationId="{8A92313F-2E06-5EDA-827C-5B06A85D5645}"/>
          </ac:picMkLst>
        </pc:picChg>
      </pc:sldChg>
      <pc:sldChg chg="addSp delSp modSp add mod setBg modNotesTx">
        <pc:chgData name="Luke Gaffney" userId="6fa697cc8cd57f76" providerId="LiveId" clId="{528BD4CA-A453-43AA-8F73-3E975C3B2CFE}" dt="2025-12-23T21:19:09.636" v="2853"/>
        <pc:sldMkLst>
          <pc:docMk/>
          <pc:sldMk cId="1769301805" sldId="290"/>
        </pc:sldMkLst>
        <pc:spChg chg="mod">
          <ac:chgData name="Luke Gaffney" userId="6fa697cc8cd57f76" providerId="LiveId" clId="{528BD4CA-A453-43AA-8F73-3E975C3B2CFE}" dt="2025-12-18T21:00:19.571" v="1152" actId="255"/>
          <ac:spMkLst>
            <pc:docMk/>
            <pc:sldMk cId="1769301805" sldId="290"/>
            <ac:spMk id="2" creationId="{F3F3FCB4-8A99-77D8-DB09-84A061141F35}"/>
          </ac:spMkLst>
        </pc:spChg>
        <pc:spChg chg="add mod">
          <ac:chgData name="Luke Gaffney" userId="6fa697cc8cd57f76" providerId="LiveId" clId="{528BD4CA-A453-43AA-8F73-3E975C3B2CFE}" dt="2025-12-23T19:21:55.272" v="2341" actId="20577"/>
          <ac:spMkLst>
            <pc:docMk/>
            <pc:sldMk cId="1769301805" sldId="290"/>
            <ac:spMk id="3" creationId="{7F57997F-3107-1310-A949-2FE70FD3D3B0}"/>
          </ac:spMkLst>
        </pc:spChg>
        <pc:spChg chg="add mod">
          <ac:chgData name="Luke Gaffney" userId="6fa697cc8cd57f76" providerId="LiveId" clId="{528BD4CA-A453-43AA-8F73-3E975C3B2CFE}" dt="2025-12-22T13:31:20.165" v="1967"/>
          <ac:spMkLst>
            <pc:docMk/>
            <pc:sldMk cId="1769301805" sldId="290"/>
            <ac:spMk id="7" creationId="{A004F379-19A0-C0B8-020A-433A7D73BA73}"/>
          </ac:spMkLst>
        </pc:spChg>
        <pc:picChg chg="add mod">
          <ac:chgData name="Luke Gaffney" userId="6fa697cc8cd57f76" providerId="LiveId" clId="{528BD4CA-A453-43AA-8F73-3E975C3B2CFE}" dt="2025-12-20T14:50:21.530" v="1901" actId="1076"/>
          <ac:picMkLst>
            <pc:docMk/>
            <pc:sldMk cId="1769301805" sldId="290"/>
            <ac:picMk id="9" creationId="{8F6C37E4-8365-E571-734E-2F260AAEE8F6}"/>
          </ac:picMkLst>
        </pc:picChg>
      </pc:sldChg>
      <pc:sldChg chg="modSp add mod setBg modNotesTx">
        <pc:chgData name="Luke Gaffney" userId="6fa697cc8cd57f76" providerId="LiveId" clId="{528BD4CA-A453-43AA-8F73-3E975C3B2CFE}" dt="2025-12-23T21:19:30.448" v="2858"/>
        <pc:sldMkLst>
          <pc:docMk/>
          <pc:sldMk cId="2960301856" sldId="291"/>
        </pc:sldMkLst>
        <pc:spChg chg="mod">
          <ac:chgData name="Luke Gaffney" userId="6fa697cc8cd57f76" providerId="LiveId" clId="{528BD4CA-A453-43AA-8F73-3E975C3B2CFE}" dt="2025-12-22T15:15:36.138" v="2084" actId="20577"/>
          <ac:spMkLst>
            <pc:docMk/>
            <pc:sldMk cId="2960301856" sldId="291"/>
            <ac:spMk id="2" creationId="{2822C743-1514-89D4-2DAD-3E9F08CB440F}"/>
          </ac:spMkLst>
        </pc:spChg>
        <pc:spChg chg="mod">
          <ac:chgData name="Luke Gaffney" userId="6fa697cc8cd57f76" providerId="LiveId" clId="{528BD4CA-A453-43AA-8F73-3E975C3B2CFE}" dt="2025-12-22T15:15:58.873" v="2104" actId="1076"/>
          <ac:spMkLst>
            <pc:docMk/>
            <pc:sldMk cId="2960301856" sldId="291"/>
            <ac:spMk id="3" creationId="{717DC6DB-FFF7-A177-A3E3-A53D84FD998F}"/>
          </ac:spMkLst>
        </pc:spChg>
      </pc:sldChg>
      <pc:sldChg chg="delSp modSp add del mod modNotesTx">
        <pc:chgData name="Luke Gaffney" userId="6fa697cc8cd57f76" providerId="LiveId" clId="{528BD4CA-A453-43AA-8F73-3E975C3B2CFE}" dt="2025-12-23T20:43:40.262" v="2841" actId="2696"/>
        <pc:sldMkLst>
          <pc:docMk/>
          <pc:sldMk cId="1686711882" sldId="292"/>
        </pc:sldMkLst>
        <pc:spChg chg="mod">
          <ac:chgData name="Luke Gaffney" userId="6fa697cc8cd57f76" providerId="LiveId" clId="{528BD4CA-A453-43AA-8F73-3E975C3B2CFE}" dt="2025-12-23T16:23:51.166" v="2148"/>
          <ac:spMkLst>
            <pc:docMk/>
            <pc:sldMk cId="1686711882" sldId="292"/>
            <ac:spMk id="2" creationId="{CD6FF901-3623-B081-894D-6037AE8A1A02}"/>
          </ac:spMkLst>
        </pc:spChg>
        <pc:spChg chg="del mod">
          <ac:chgData name="Luke Gaffney" userId="6fa697cc8cd57f76" providerId="LiveId" clId="{528BD4CA-A453-43AA-8F73-3E975C3B2CFE}" dt="2025-12-23T20:43:34.164" v="2839"/>
          <ac:spMkLst>
            <pc:docMk/>
            <pc:sldMk cId="1686711882" sldId="292"/>
            <ac:spMk id="61" creationId="{6C81D7CD-A7E7-0C9B-9716-B188908C0234}"/>
          </ac:spMkLst>
        </pc:spChg>
      </pc:sldChg>
      <pc:sldChg chg="modSp add mod setBg modNotesTx">
        <pc:chgData name="Luke Gaffney" userId="6fa697cc8cd57f76" providerId="LiveId" clId="{528BD4CA-A453-43AA-8F73-3E975C3B2CFE}" dt="2025-12-23T21:18:37.695" v="2846"/>
        <pc:sldMkLst>
          <pc:docMk/>
          <pc:sldMk cId="3315056854" sldId="293"/>
        </pc:sldMkLst>
        <pc:spChg chg="mod">
          <ac:chgData name="Luke Gaffney" userId="6fa697cc8cd57f76" providerId="LiveId" clId="{528BD4CA-A453-43AA-8F73-3E975C3B2CFE}" dt="2025-12-23T16:24:33.612" v="2152"/>
          <ac:spMkLst>
            <pc:docMk/>
            <pc:sldMk cId="3315056854" sldId="293"/>
            <ac:spMk id="2" creationId="{CEEC8808-9AEF-CD15-EBA7-1CA3413867B0}"/>
          </ac:spMkLst>
        </pc:spChg>
        <pc:spChg chg="mod">
          <ac:chgData name="Luke Gaffney" userId="6fa697cc8cd57f76" providerId="LiveId" clId="{528BD4CA-A453-43AA-8F73-3E975C3B2CFE}" dt="2025-12-23T20:21:03.529" v="2826" actId="1076"/>
          <ac:spMkLst>
            <pc:docMk/>
            <pc:sldMk cId="3315056854" sldId="293"/>
            <ac:spMk id="61" creationId="{A581FB95-F069-BC84-88AE-577884E5A69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DC4030-9B2D-4C56-AA99-33874DEDBB43}" type="datetimeFigureOut">
              <a:rPr lang="en-US" smtClean="0"/>
              <a:t>12/23/2025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4F93AA-2A77-4ACB-8117-F9E159C9069A}" type="slidenum">
              <a:rPr lang="en-US" smtClean="0"/>
              <a:t>‹#›</a:t>
            </a:fld>
            <a:endParaRPr lang="en-US"/>
          </a:p>
        </p:txBody>
      </p:sp>
    </p:spTree>
    <p:extLst>
      <p:ext uri="{BB962C8B-B14F-4D97-AF65-F5344CB8AC3E}">
        <p14:creationId xmlns:p14="http://schemas.microsoft.com/office/powerpoint/2010/main" val="361820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Hi my name is Luke Gaffney</a:t>
            </a:r>
          </a:p>
          <a:p>
            <a:pPr marL="171450" indent="-171450">
              <a:buFont typeface="Arial" panose="020B0604020202020204" pitchFamily="34" charset="0"/>
              <a:buChar char="•"/>
            </a:pPr>
            <a:r>
              <a:rPr lang="en-US" dirty="0"/>
              <a:t>This project examines how housing affordability changed in Metro Nashville between 2020 and 2023.</a:t>
            </a:r>
          </a:p>
          <a:p>
            <a:pPr marL="171450" indent="-171450">
              <a:buFont typeface="Arial" panose="020B0604020202020204" pitchFamily="34" charset="0"/>
              <a:buChar char="•"/>
            </a:pPr>
            <a:r>
              <a:rPr lang="en-US" dirty="0"/>
              <a:t>The reason that I was interested in completing my capstone on this topic is that I have bough and sold a house during this time frame </a:t>
            </a:r>
            <a:r>
              <a:rPr lang="en-US"/>
              <a:t>and experienced </a:t>
            </a:r>
            <a:r>
              <a:rPr lang="en-US" dirty="0"/>
              <a:t>first had the highs and the lows of the affordability changes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1</a:t>
            </a:fld>
            <a:endParaRPr lang="en-US"/>
          </a:p>
        </p:txBody>
      </p:sp>
    </p:spTree>
    <p:extLst>
      <p:ext uri="{BB962C8B-B14F-4D97-AF65-F5344CB8AC3E}">
        <p14:creationId xmlns:p14="http://schemas.microsoft.com/office/powerpoint/2010/main" val="3060548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purpose of this analysis is to evaluate changes in housing affordability in Metro Nashville during a period of market disruption.</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 focused on three key drivers of affordability: </a:t>
            </a:r>
            <a:r>
              <a:rPr lang="en-US" b="1" dirty="0"/>
              <a:t>home prices, household income, and interest rates</a:t>
            </a:r>
            <a:r>
              <a:rPr lang="en-US" dirty="0"/>
              <a:t>.</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In addition to overall trends, I examined ZIP Code-level differences to understand whether some neighborhoods experienced greater affordability pressures than others.</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4F93AA-2A77-4ACB-8117-F9E159C9069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95914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000C6-CA7F-0E1E-8CF4-8FB127692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6476E9-3016-EC17-C647-408C61148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6ED9BB-2D2D-F5C2-ABA8-2D4FF19D021B}"/>
              </a:ext>
            </a:extLst>
          </p:cNvPr>
          <p:cNvSpPr>
            <a:spLocks noGrp="1"/>
          </p:cNvSpPr>
          <p:nvPr>
            <p:ph type="body" idx="1"/>
          </p:nvPr>
        </p:nvSpPr>
        <p:spPr/>
        <p:txBody>
          <a:bodyPr/>
          <a:lstStyle/>
          <a:p>
            <a:pPr marL="171450" indent="-171450">
              <a:buFont typeface="Arial" panose="020B0604020202020204" pitchFamily="34" charset="0"/>
              <a:buChar char="•"/>
            </a:pPr>
            <a:r>
              <a:rPr lang="en-US" dirty="0"/>
              <a:t>This project is guided by four research questions.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First, I examine how median home prices changed relative to household income growth.</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Second, I look at housing market activity, including inventory indicators and home sales volume.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Third, I assess how rising interest rates affected affordability for a median-income household.</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Finally, I analyze whether affordability changes were evenly distributed across ZIP codes in Metro Nashville.</a:t>
            </a:r>
          </a:p>
          <a:p>
            <a:endParaRPr lang="en-US" dirty="0"/>
          </a:p>
        </p:txBody>
      </p:sp>
      <p:sp>
        <p:nvSpPr>
          <p:cNvPr id="4" name="Slide Number Placeholder 3">
            <a:extLst>
              <a:ext uri="{FF2B5EF4-FFF2-40B4-BE49-F238E27FC236}">
                <a16:creationId xmlns:a16="http://schemas.microsoft.com/office/drawing/2014/main" id="{DC63E42E-8076-E603-64B6-54129561068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4F93AA-2A77-4ACB-8117-F9E159C9069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00311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This analysis focuses on Metro Nashville from 2020 through 2023.</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 combine multiple datasets to capture different dimensions of affordability.</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Parcel sales data provided transaction prices for single-family homes.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Redfin data provided housing market indicators like inventory and homes sold.</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Census ACS data provided median household income at the ZIP code level.</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Mortgage rate data came from FRED and reflect national 30-year fixed rates.</a:t>
            </a:r>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4</a:t>
            </a:fld>
            <a:endParaRPr lang="en-US"/>
          </a:p>
        </p:txBody>
      </p:sp>
    </p:spTree>
    <p:extLst>
      <p:ext uri="{BB962C8B-B14F-4D97-AF65-F5344CB8AC3E}">
        <p14:creationId xmlns:p14="http://schemas.microsoft.com/office/powerpoint/2010/main" val="3265194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This slide provides a high-level comparison between 2020 and 2023.</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Median home prices increased from about $320,000 to over $437,000.</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Median household income increased as well, but at a slower pace.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At the same time, total single-family home sales declined significantly.</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Mortgage rates more than doubled, increasing borrowing costs and reducing affordability.</a:t>
            </a:r>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5</a:t>
            </a:fld>
            <a:endParaRPr lang="en-US"/>
          </a:p>
        </p:txBody>
      </p:sp>
    </p:spTree>
    <p:extLst>
      <p:ext uri="{BB962C8B-B14F-4D97-AF65-F5344CB8AC3E}">
        <p14:creationId xmlns:p14="http://schemas.microsoft.com/office/powerpoint/2010/main" val="17198001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This slide compares trends in median home prices and median household income.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Home prices increased substantially faster than incomes over this period.</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Between 2020 and 2023, prices rose by roughly 37%, while incomes increased by about 20%.</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This growing gap suggests that affordability worsened even before considering financing costs.</a:t>
            </a:r>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6</a:t>
            </a:fld>
            <a:endParaRPr lang="en-US"/>
          </a:p>
        </p:txBody>
      </p:sp>
    </p:spTree>
    <p:extLst>
      <p:ext uri="{BB962C8B-B14F-4D97-AF65-F5344CB8AC3E}">
        <p14:creationId xmlns:p14="http://schemas.microsoft.com/office/powerpoint/2010/main" val="16524479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lvl="0" indent="-285750">
              <a:buFont typeface="Arial" panose="020B0604020202020204" pitchFamily="34" charset="0"/>
              <a:buChar char="•"/>
            </a:pPr>
            <a:r>
              <a:rPr lang="en-US" dirty="0"/>
              <a:t>The </a:t>
            </a:r>
            <a:r>
              <a:rPr lang="en-US" b="1" dirty="0"/>
              <a:t>price-to-income ratio</a:t>
            </a:r>
            <a:r>
              <a:rPr lang="en-US" dirty="0"/>
              <a:t> measures how affordable housing is by comparing the cost of a typical home to the income of a typical household.</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b="1" dirty="0"/>
              <a:t>The formula for this is (Median Home Sale Price/Median Household Income=Price-to-Income Ratio)</a:t>
            </a:r>
          </a:p>
          <a:p>
            <a:pPr marL="285750" lvl="0" indent="-285750">
              <a:buFont typeface="Arial" panose="020B0604020202020204" pitchFamily="34" charset="0"/>
              <a:buChar char="•"/>
            </a:pPr>
            <a:r>
              <a:rPr lang="en-US" dirty="0"/>
              <a:t>The price-to-income ratio summarizes the relationship between home prices and income</a:t>
            </a:r>
            <a:endParaRPr lang="en-US" b="1" dirty="0"/>
          </a:p>
          <a:p>
            <a:pPr marL="285750" lvl="0" indent="-285750">
              <a:buFont typeface="Arial" panose="020B0604020202020204" pitchFamily="34" charset="0"/>
              <a:buChar char="•"/>
            </a:pPr>
            <a:endParaRPr lang="en-US" b="1" dirty="0"/>
          </a:p>
          <a:p>
            <a:pPr marL="285750" lvl="0" indent="-285750">
              <a:buFont typeface="Arial" panose="020B0604020202020204" pitchFamily="34" charset="0"/>
              <a:buChar char="•"/>
            </a:pPr>
            <a:r>
              <a:rPr lang="en-US" b="1" dirty="0"/>
              <a:t>This is widely used by HUD or US department of Housing and Urban Development</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A higher ratio indicates reduced affordability.</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Between 2020 and 2022, the ratio increased as prices outpaced income growth.</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While income growth in 2023 slightly reduced the ratio, affordability pressure remained elevated compared to earlier years in the period.</a:t>
            </a:r>
          </a:p>
          <a:p>
            <a:pPr marL="285750" lvl="0" indent="-285750">
              <a:buFont typeface="Arial" panose="020B0604020202020204" pitchFamily="34" charset="0"/>
              <a:buChar char="•"/>
            </a:pPr>
            <a:endParaRPr lang="en-US" b="1" dirty="0"/>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7</a:t>
            </a:fld>
            <a:endParaRPr lang="en-US"/>
          </a:p>
        </p:txBody>
      </p:sp>
    </p:spTree>
    <p:extLst>
      <p:ext uri="{BB962C8B-B14F-4D97-AF65-F5344CB8AC3E}">
        <p14:creationId xmlns:p14="http://schemas.microsoft.com/office/powerpoint/2010/main" val="3524343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During this period, Metro Nashville experienced continued population growth, while housing inventory remained constrained. This imbalance between demand and available housing helps explain why prices continued to rise despite fluctuations in sales volume.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p>
          <a:p>
            <a:pPr marL="171450" indent="-171450">
              <a:buFont typeface="Arial" panose="020B0604020202020204" pitchFamily="34" charset="0"/>
              <a:buChar char="•"/>
            </a:pPr>
            <a:r>
              <a:rPr lang="en-US" dirty="0"/>
              <a:t>This slide shows changes in housing market conditions.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Average inventory reflects the typical number of homes available for sale at any point during the year. Rather than using a single month, I averaged monthly inventory values to capture overall supply conditions</a:t>
            </a:r>
          </a:p>
          <a:p>
            <a:pPr marL="0" indent="0">
              <a:buFont typeface="Arial" panose="020B0604020202020204" pitchFamily="34" charset="0"/>
              <a:buNone/>
            </a:pPr>
            <a:endParaRPr lang="en-US" dirty="0"/>
          </a:p>
          <a:p>
            <a:pPr marL="171450" indent="-171450">
              <a:buFont typeface="Arial" panose="020B0604020202020204" pitchFamily="34" charset="0"/>
              <a:buChar char="•"/>
            </a:pPr>
            <a:r>
              <a:rPr lang="en-US" dirty="0"/>
              <a:t>Inventory declined in 2021, tightening market conditions.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Even as inventory partially recovered in later years, home sales continued to decline.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Higher prices and rising mortgage rates reduced buyer activity, contributing to continued affordability challenges.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8</a:t>
            </a:fld>
            <a:endParaRPr lang="en-US"/>
          </a:p>
        </p:txBody>
      </p:sp>
    </p:spTree>
    <p:extLst>
      <p:ext uri="{BB962C8B-B14F-4D97-AF65-F5344CB8AC3E}">
        <p14:creationId xmlns:p14="http://schemas.microsoft.com/office/powerpoint/2010/main" val="2359422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Mortgage interest rates remained historically low in 2020 and 2021.</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Beginning in 2022, rates increased rapidly.</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Due to these increases this significantly raised monthly mortgage payments.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Higher borrowing costs compounded affordability challenges created by rising home prices.</a:t>
            </a:r>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9</a:t>
            </a:fld>
            <a:endParaRPr lang="en-US"/>
          </a:p>
        </p:txBody>
      </p:sp>
    </p:spTree>
    <p:extLst>
      <p:ext uri="{BB962C8B-B14F-4D97-AF65-F5344CB8AC3E}">
        <p14:creationId xmlns:p14="http://schemas.microsoft.com/office/powerpoint/2010/main" val="418154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This slide shows the share of median household income needed to comfortably afford monthly mortgage payments.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 dashed line represents the commonly used 30% affordability threshold. </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By 2023, housing costs exceeded this threshold for median-income households.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reducing affordability for many median-income households under standard housing cost thresholds.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This chart estimates the share of median household income required for monthly mortgage payments on a median-priced home. Monthly mortgage payments are calculated using median home prices and prevailing mortgage rates, then expressed as a percentage of median household income. The dashed line marks the commonly used 30% affordability benchmark, above which households are considered cost-burdened. By 2023, housing costs exceeded this threshold for many median-income households, indicating a significant decline in homeownership affordability.</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If asked how I did this I calculated  what the average monthly mortgage payment would be with 20% down and the interest rate that year and used the median monthly income</a:t>
            </a:r>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10</a:t>
            </a:fld>
            <a:endParaRPr lang="en-US"/>
          </a:p>
        </p:txBody>
      </p:sp>
    </p:spTree>
    <p:extLst>
      <p:ext uri="{BB962C8B-B14F-4D97-AF65-F5344CB8AC3E}">
        <p14:creationId xmlns:p14="http://schemas.microsoft.com/office/powerpoint/2010/main" val="736034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Affordability changes were not evenly distributed across Metro Nashville. This slide shows the zips codes that saw the largest increase to their price to income ratio</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Some ZIP codes experienced much larger increases in price-to-income ratios than others.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These differences suggest that neighborhood-level market dynamics played an important role in shaping affordability outcomes.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This highlights the importance of examining affordability at a local level rather than relying only on metro-wide averages.</a:t>
            </a:r>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11</a:t>
            </a:fld>
            <a:endParaRPr lang="en-US"/>
          </a:p>
        </p:txBody>
      </p:sp>
    </p:spTree>
    <p:extLst>
      <p:ext uri="{BB962C8B-B14F-4D97-AF65-F5344CB8AC3E}">
        <p14:creationId xmlns:p14="http://schemas.microsoft.com/office/powerpoint/2010/main" val="4667198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Home prices increased faster than incomes, widening the affordability gap.</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Rising mortgage rates significantly increased borrowing costs.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Housing market conditions tightened early in the period and remained challenging.</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Affordability pressures were uneven across ZIP codes.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Together, these factors contributed to a substantial decline in homeownership affordability.</a:t>
            </a:r>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12</a:t>
            </a:fld>
            <a:endParaRPr lang="en-US"/>
          </a:p>
        </p:txBody>
      </p:sp>
    </p:spTree>
    <p:extLst>
      <p:ext uri="{BB962C8B-B14F-4D97-AF65-F5344CB8AC3E}">
        <p14:creationId xmlns:p14="http://schemas.microsoft.com/office/powerpoint/2010/main" val="5400603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171450" indent="-171450">
              <a:buFont typeface="Arial" panose="020B0604020202020204" pitchFamily="34" charset="0"/>
              <a:buChar char="•"/>
            </a:pPr>
            <a:r>
              <a:rPr lang="en-US" dirty="0"/>
              <a:t>There are several limitations to this analysis.</a:t>
            </a:r>
          </a:p>
          <a:p>
            <a:pPr marL="171450" indent="-171450">
              <a:buFont typeface="Arial" panose="020B0604020202020204" pitchFamily="34" charset="0"/>
              <a:buChar char="•"/>
            </a:pPr>
            <a:r>
              <a:rPr lang="en-US" dirty="0"/>
              <a:t>ZIP code boundaries and definitions vary across data sources.</a:t>
            </a:r>
          </a:p>
          <a:p>
            <a:pPr marL="171450" indent="-171450">
              <a:buFont typeface="Arial" panose="020B0604020202020204" pitchFamily="34" charset="0"/>
              <a:buChar char="•"/>
            </a:pPr>
            <a:r>
              <a:rPr lang="en-US" dirty="0"/>
              <a:t>Future work could examine longer time horizons </a:t>
            </a:r>
          </a:p>
          <a:p>
            <a:pPr marL="171450" indent="-171450">
              <a:buFont typeface="Arial" panose="020B0604020202020204" pitchFamily="34" charset="0"/>
              <a:buChar char="•"/>
            </a:pPr>
            <a:r>
              <a:rPr lang="en-US" dirty="0"/>
              <a:t>Additional factors like rents or demographic changes could also be explored.</a:t>
            </a:r>
          </a:p>
          <a:p>
            <a:endParaRPr lang="en-US" dirty="0"/>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13</a:t>
            </a:fld>
            <a:endParaRPr lang="en-US"/>
          </a:p>
        </p:txBody>
      </p:sp>
    </p:spTree>
    <p:extLst>
      <p:ext uri="{BB962C8B-B14F-4D97-AF65-F5344CB8AC3E}">
        <p14:creationId xmlns:p14="http://schemas.microsoft.com/office/powerpoint/2010/main" val="4330422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Between 2020 and 2023, rising home prices, higher mortgage rates, and constrained market conditions significantly reduced housing affordability in Metro Nashville.</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While incomes increased, they did not keep pace with housing costs.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Affordability pressures were not evenly distributed across neighborhoods.</a:t>
            </a:r>
          </a:p>
          <a:p>
            <a:pPr marL="171450" indent="-171450">
              <a:buFont typeface="Arial" panose="020B0604020202020204" pitchFamily="34" charset="0"/>
              <a:buChar char="•"/>
            </a:pPr>
            <a:endParaRPr lang="en-US" dirty="0"/>
          </a:p>
          <a:p>
            <a:pPr marL="171450" indent="-171450">
              <a:buFont typeface="Arial" panose="020B0604020202020204" pitchFamily="34" charset="0"/>
              <a:buChar char="•"/>
            </a:pPr>
            <a:r>
              <a:rPr lang="en-US" dirty="0"/>
              <a:t>Overall, this analysis shows how multiple market forces combined to worsen housing affordability in Metro Nashville during this period.</a:t>
            </a:r>
          </a:p>
          <a:p>
            <a:endParaRPr lang="en-US" dirty="0"/>
          </a:p>
        </p:txBody>
      </p:sp>
      <p:sp>
        <p:nvSpPr>
          <p:cNvPr id="4" name="Slide Number Placeholder 3"/>
          <p:cNvSpPr>
            <a:spLocks noGrp="1"/>
          </p:cNvSpPr>
          <p:nvPr>
            <p:ph type="sldNum" sz="quarter" idx="5"/>
          </p:nvPr>
        </p:nvSpPr>
        <p:spPr/>
        <p:txBody>
          <a:bodyPr/>
          <a:lstStyle/>
          <a:p>
            <a:fld id="{F04F93AA-2A77-4ACB-8117-F9E159C9069A}" type="slidenum">
              <a:rPr lang="en-US" smtClean="0"/>
              <a:t>14</a:t>
            </a:fld>
            <a:endParaRPr lang="en-US"/>
          </a:p>
        </p:txBody>
      </p:sp>
    </p:spTree>
    <p:extLst>
      <p:ext uri="{BB962C8B-B14F-4D97-AF65-F5344CB8AC3E}">
        <p14:creationId xmlns:p14="http://schemas.microsoft.com/office/powerpoint/2010/main" val="3967946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A23CA-F784-8609-0053-212FA3AE92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4BF1ED-677E-4E16-D8CE-A99EBE92F7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4D6CC0-871A-93D4-2DB3-A0558479D7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C5540D-FF74-83C1-A1BD-A09C777BF1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04F93AA-2A77-4ACB-8117-F9E159C9069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562150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838B0-975D-31C0-7BD2-130C245434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BB2F58E-52D2-45F0-509A-3E4302E780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CF3F032-6152-B5C7-54EF-7EB35DF144E5}"/>
              </a:ext>
            </a:extLst>
          </p:cNvPr>
          <p:cNvSpPr>
            <a:spLocks noGrp="1"/>
          </p:cNvSpPr>
          <p:nvPr>
            <p:ph type="dt" sz="half" idx="10"/>
          </p:nvPr>
        </p:nvSpPr>
        <p:spPr/>
        <p:txBody>
          <a:bodyPr/>
          <a:lstStyle/>
          <a:p>
            <a:fld id="{13FBD760-3C71-467A-88B1-1440ED683542}" type="datetimeFigureOut">
              <a:rPr lang="en-US" smtClean="0"/>
              <a:t>12/23/2025</a:t>
            </a:fld>
            <a:endParaRPr lang="en-US"/>
          </a:p>
        </p:txBody>
      </p:sp>
      <p:sp>
        <p:nvSpPr>
          <p:cNvPr id="5" name="Footer Placeholder 4">
            <a:extLst>
              <a:ext uri="{FF2B5EF4-FFF2-40B4-BE49-F238E27FC236}">
                <a16:creationId xmlns:a16="http://schemas.microsoft.com/office/drawing/2014/main" id="{2E7E7F83-9F97-0164-4B11-1CACCD45E8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C8B827-DA72-76BF-61CA-181EA87576EF}"/>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1486602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50E89-F670-4E88-3E52-1AA9D7600C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1374FA-5609-F22E-26ED-7885D3E351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1C0E74-7F8C-66C3-FE01-9E3D2BA99CDF}"/>
              </a:ext>
            </a:extLst>
          </p:cNvPr>
          <p:cNvSpPr>
            <a:spLocks noGrp="1"/>
          </p:cNvSpPr>
          <p:nvPr>
            <p:ph type="dt" sz="half" idx="10"/>
          </p:nvPr>
        </p:nvSpPr>
        <p:spPr/>
        <p:txBody>
          <a:bodyPr/>
          <a:lstStyle/>
          <a:p>
            <a:fld id="{13FBD760-3C71-467A-88B1-1440ED683542}" type="datetimeFigureOut">
              <a:rPr lang="en-US" smtClean="0"/>
              <a:t>12/23/2025</a:t>
            </a:fld>
            <a:endParaRPr lang="en-US"/>
          </a:p>
        </p:txBody>
      </p:sp>
      <p:sp>
        <p:nvSpPr>
          <p:cNvPr id="5" name="Footer Placeholder 4">
            <a:extLst>
              <a:ext uri="{FF2B5EF4-FFF2-40B4-BE49-F238E27FC236}">
                <a16:creationId xmlns:a16="http://schemas.microsoft.com/office/drawing/2014/main" id="{43335726-2349-EDE0-794B-25EA1D3044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811528-EF31-3213-AA8C-2CD786F52F19}"/>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105867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C2E8B-C2FA-9286-E03F-5062DD039F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CE3503-19AF-41A1-092B-60F71F8E30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6C9196-F250-9AC7-C084-0C296B6EF68A}"/>
              </a:ext>
            </a:extLst>
          </p:cNvPr>
          <p:cNvSpPr>
            <a:spLocks noGrp="1"/>
          </p:cNvSpPr>
          <p:nvPr>
            <p:ph type="dt" sz="half" idx="10"/>
          </p:nvPr>
        </p:nvSpPr>
        <p:spPr/>
        <p:txBody>
          <a:bodyPr/>
          <a:lstStyle/>
          <a:p>
            <a:fld id="{13FBD760-3C71-467A-88B1-1440ED683542}" type="datetimeFigureOut">
              <a:rPr lang="en-US" smtClean="0"/>
              <a:t>12/23/2025</a:t>
            </a:fld>
            <a:endParaRPr lang="en-US"/>
          </a:p>
        </p:txBody>
      </p:sp>
      <p:sp>
        <p:nvSpPr>
          <p:cNvPr id="5" name="Footer Placeholder 4">
            <a:extLst>
              <a:ext uri="{FF2B5EF4-FFF2-40B4-BE49-F238E27FC236}">
                <a16:creationId xmlns:a16="http://schemas.microsoft.com/office/drawing/2014/main" id="{A342C2E2-AADD-09B1-ECA7-26C53131CE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16FFD7-1E59-034B-3879-28E65E068368}"/>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488502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F1EF4-8D70-0817-DB5C-3369F32DC3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4E66F9-EA1A-E713-1129-AFC0F085A61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C926150-237C-07E5-F4DF-E50753C097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AFE979-9992-5F31-187A-84483C24E7B9}"/>
              </a:ext>
            </a:extLst>
          </p:cNvPr>
          <p:cNvSpPr>
            <a:spLocks noGrp="1"/>
          </p:cNvSpPr>
          <p:nvPr>
            <p:ph type="dt" sz="half" idx="10"/>
          </p:nvPr>
        </p:nvSpPr>
        <p:spPr/>
        <p:txBody>
          <a:bodyPr/>
          <a:lstStyle/>
          <a:p>
            <a:fld id="{13FBD760-3C71-467A-88B1-1440ED683542}" type="datetimeFigureOut">
              <a:rPr lang="en-US" smtClean="0"/>
              <a:t>12/23/2025</a:t>
            </a:fld>
            <a:endParaRPr lang="en-US"/>
          </a:p>
        </p:txBody>
      </p:sp>
      <p:sp>
        <p:nvSpPr>
          <p:cNvPr id="6" name="Footer Placeholder 5">
            <a:extLst>
              <a:ext uri="{FF2B5EF4-FFF2-40B4-BE49-F238E27FC236}">
                <a16:creationId xmlns:a16="http://schemas.microsoft.com/office/drawing/2014/main" id="{2BF4108E-06EC-7DFA-4CBF-53D7FD7424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B67EB0-7D64-B128-A285-B64767E10996}"/>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4057712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DE9BF-D271-59F7-CDC8-4BB6BA8E31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51A5B08-8F08-2CB9-0A59-F064AB3718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89D034-3EF6-034B-72C7-61C65E3C63B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3EFCF9-610A-FF4B-3D06-FF194B3FE9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5A1D2C-24CF-3533-0350-AAAEFC0537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B9B8B4-32D6-2982-33F4-7DBAB725FAE0}"/>
              </a:ext>
            </a:extLst>
          </p:cNvPr>
          <p:cNvSpPr>
            <a:spLocks noGrp="1"/>
          </p:cNvSpPr>
          <p:nvPr>
            <p:ph type="dt" sz="half" idx="10"/>
          </p:nvPr>
        </p:nvSpPr>
        <p:spPr/>
        <p:txBody>
          <a:bodyPr/>
          <a:lstStyle/>
          <a:p>
            <a:fld id="{13FBD760-3C71-467A-88B1-1440ED683542}" type="datetimeFigureOut">
              <a:rPr lang="en-US" smtClean="0"/>
              <a:t>12/23/2025</a:t>
            </a:fld>
            <a:endParaRPr lang="en-US"/>
          </a:p>
        </p:txBody>
      </p:sp>
      <p:sp>
        <p:nvSpPr>
          <p:cNvPr id="8" name="Footer Placeholder 7">
            <a:extLst>
              <a:ext uri="{FF2B5EF4-FFF2-40B4-BE49-F238E27FC236}">
                <a16:creationId xmlns:a16="http://schemas.microsoft.com/office/drawing/2014/main" id="{7D85D933-EB9E-64DD-6AC4-6BF2DE1E16C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91474B-D526-55B5-F8D0-D4D9A6659C04}"/>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6125069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85F02-4A00-FEEB-7401-29905178EF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0F79DE-8C6C-EBEE-AFF4-6600C380058F}"/>
              </a:ext>
            </a:extLst>
          </p:cNvPr>
          <p:cNvSpPr>
            <a:spLocks noGrp="1"/>
          </p:cNvSpPr>
          <p:nvPr>
            <p:ph type="dt" sz="half" idx="10"/>
          </p:nvPr>
        </p:nvSpPr>
        <p:spPr/>
        <p:txBody>
          <a:bodyPr/>
          <a:lstStyle/>
          <a:p>
            <a:fld id="{13FBD760-3C71-467A-88B1-1440ED683542}" type="datetimeFigureOut">
              <a:rPr lang="en-US" smtClean="0"/>
              <a:t>12/23/2025</a:t>
            </a:fld>
            <a:endParaRPr lang="en-US"/>
          </a:p>
        </p:txBody>
      </p:sp>
      <p:sp>
        <p:nvSpPr>
          <p:cNvPr id="4" name="Footer Placeholder 3">
            <a:extLst>
              <a:ext uri="{FF2B5EF4-FFF2-40B4-BE49-F238E27FC236}">
                <a16:creationId xmlns:a16="http://schemas.microsoft.com/office/drawing/2014/main" id="{BE0FCE67-FA2B-D1B0-BEA5-0689789FE1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348475D-4CAA-3871-ACB6-754155DC20ED}"/>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3331602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FCEDD4-C8B3-C0CA-26ED-C549B6235587}"/>
              </a:ext>
            </a:extLst>
          </p:cNvPr>
          <p:cNvSpPr>
            <a:spLocks noGrp="1"/>
          </p:cNvSpPr>
          <p:nvPr>
            <p:ph type="dt" sz="half" idx="10"/>
          </p:nvPr>
        </p:nvSpPr>
        <p:spPr/>
        <p:txBody>
          <a:bodyPr/>
          <a:lstStyle/>
          <a:p>
            <a:fld id="{13FBD760-3C71-467A-88B1-1440ED683542}" type="datetimeFigureOut">
              <a:rPr lang="en-US" smtClean="0"/>
              <a:t>12/23/2025</a:t>
            </a:fld>
            <a:endParaRPr lang="en-US"/>
          </a:p>
        </p:txBody>
      </p:sp>
      <p:sp>
        <p:nvSpPr>
          <p:cNvPr id="3" name="Footer Placeholder 2">
            <a:extLst>
              <a:ext uri="{FF2B5EF4-FFF2-40B4-BE49-F238E27FC236}">
                <a16:creationId xmlns:a16="http://schemas.microsoft.com/office/drawing/2014/main" id="{28BF2656-8F73-2AB9-3AEC-9B2747D779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F3B3B3-4FC1-AC29-C7E4-5BADB03A3DCD}"/>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9677724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570B3-B4BA-AA12-3A32-39FA11E783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7F0DEE-D2DF-E961-7282-0BC2D8876E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41A205-AEB8-D897-5F94-1F12E34DBF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9DFE46-2C9B-35D2-D243-72709CB269DF}"/>
              </a:ext>
            </a:extLst>
          </p:cNvPr>
          <p:cNvSpPr>
            <a:spLocks noGrp="1"/>
          </p:cNvSpPr>
          <p:nvPr>
            <p:ph type="dt" sz="half" idx="10"/>
          </p:nvPr>
        </p:nvSpPr>
        <p:spPr/>
        <p:txBody>
          <a:bodyPr/>
          <a:lstStyle/>
          <a:p>
            <a:fld id="{13FBD760-3C71-467A-88B1-1440ED683542}" type="datetimeFigureOut">
              <a:rPr lang="en-US" smtClean="0"/>
              <a:t>12/23/2025</a:t>
            </a:fld>
            <a:endParaRPr lang="en-US"/>
          </a:p>
        </p:txBody>
      </p:sp>
      <p:sp>
        <p:nvSpPr>
          <p:cNvPr id="6" name="Footer Placeholder 5">
            <a:extLst>
              <a:ext uri="{FF2B5EF4-FFF2-40B4-BE49-F238E27FC236}">
                <a16:creationId xmlns:a16="http://schemas.microsoft.com/office/drawing/2014/main" id="{B990FAE4-F8DC-58C1-5838-5C112BAF56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D44D7A-A481-B793-36EB-93C2ED894824}"/>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0991868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ED6C8-EB4E-48A1-5CE6-DCC89B514A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37E20E6-9043-9EF1-69FA-9C08F6DA67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5E99AC-2F15-B873-7B49-AF750FA781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1D3D93-B00E-2BF1-1322-CA8D92BDDEF4}"/>
              </a:ext>
            </a:extLst>
          </p:cNvPr>
          <p:cNvSpPr>
            <a:spLocks noGrp="1"/>
          </p:cNvSpPr>
          <p:nvPr>
            <p:ph type="dt" sz="half" idx="10"/>
          </p:nvPr>
        </p:nvSpPr>
        <p:spPr/>
        <p:txBody>
          <a:bodyPr/>
          <a:lstStyle/>
          <a:p>
            <a:fld id="{13FBD760-3C71-467A-88B1-1440ED683542}" type="datetimeFigureOut">
              <a:rPr lang="en-US" smtClean="0"/>
              <a:t>12/23/2025</a:t>
            </a:fld>
            <a:endParaRPr lang="en-US"/>
          </a:p>
        </p:txBody>
      </p:sp>
      <p:sp>
        <p:nvSpPr>
          <p:cNvPr id="6" name="Footer Placeholder 5">
            <a:extLst>
              <a:ext uri="{FF2B5EF4-FFF2-40B4-BE49-F238E27FC236}">
                <a16:creationId xmlns:a16="http://schemas.microsoft.com/office/drawing/2014/main" id="{878AE80E-3BF8-3895-DA76-0D4FC1B365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7F440E-A6AE-421F-F21A-9158F42A602E}"/>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588069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09D6A-55E4-E96B-7AAA-490E4B1124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D28C3DA-E907-7104-FC2F-822FCB6645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0983F7-1A60-ABE5-F5C4-3FAEC5EFB796}"/>
              </a:ext>
            </a:extLst>
          </p:cNvPr>
          <p:cNvSpPr>
            <a:spLocks noGrp="1"/>
          </p:cNvSpPr>
          <p:nvPr>
            <p:ph type="dt" sz="half" idx="10"/>
          </p:nvPr>
        </p:nvSpPr>
        <p:spPr/>
        <p:txBody>
          <a:bodyPr/>
          <a:lstStyle/>
          <a:p>
            <a:fld id="{13FBD760-3C71-467A-88B1-1440ED683542}" type="datetimeFigureOut">
              <a:rPr lang="en-US" smtClean="0"/>
              <a:t>12/23/2025</a:t>
            </a:fld>
            <a:endParaRPr lang="en-US"/>
          </a:p>
        </p:txBody>
      </p:sp>
      <p:sp>
        <p:nvSpPr>
          <p:cNvPr id="5" name="Footer Placeholder 4">
            <a:extLst>
              <a:ext uri="{FF2B5EF4-FFF2-40B4-BE49-F238E27FC236}">
                <a16:creationId xmlns:a16="http://schemas.microsoft.com/office/drawing/2014/main" id="{B67EBBF6-4A85-99DB-669A-17849C39F7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0ED123-26C9-DDE2-9767-83C6171D943A}"/>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1483938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05208DA-23A1-B2DA-EAB5-C1FC20091E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73F736D-53B1-AB46-2B66-10E5DDDCC06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567765-E2E5-DB5D-13F8-0B11DEC18E89}"/>
              </a:ext>
            </a:extLst>
          </p:cNvPr>
          <p:cNvSpPr>
            <a:spLocks noGrp="1"/>
          </p:cNvSpPr>
          <p:nvPr>
            <p:ph type="dt" sz="half" idx="10"/>
          </p:nvPr>
        </p:nvSpPr>
        <p:spPr/>
        <p:txBody>
          <a:bodyPr/>
          <a:lstStyle/>
          <a:p>
            <a:fld id="{13FBD760-3C71-467A-88B1-1440ED683542}" type="datetimeFigureOut">
              <a:rPr lang="en-US" smtClean="0"/>
              <a:t>12/23/2025</a:t>
            </a:fld>
            <a:endParaRPr lang="en-US"/>
          </a:p>
        </p:txBody>
      </p:sp>
      <p:sp>
        <p:nvSpPr>
          <p:cNvPr id="5" name="Footer Placeholder 4">
            <a:extLst>
              <a:ext uri="{FF2B5EF4-FFF2-40B4-BE49-F238E27FC236}">
                <a16:creationId xmlns:a16="http://schemas.microsoft.com/office/drawing/2014/main" id="{EA3220CA-D52F-3532-C9DE-B094EED30F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03457A-AA84-4CD3-FCAD-F750DEFB9C73}"/>
              </a:ext>
            </a:extLst>
          </p:cNvPr>
          <p:cNvSpPr>
            <a:spLocks noGrp="1"/>
          </p:cNvSpPr>
          <p:nvPr>
            <p:ph type="sldNum" sz="quarter" idx="12"/>
          </p:nvPr>
        </p:nvSpPr>
        <p:spPr/>
        <p:txBody>
          <a:bodyPr/>
          <a:lstStyle/>
          <a:p>
            <a:fld id="{16CD607A-72E9-4BF2-9356-F51220A4424A}" type="slidenum">
              <a:rPr lang="en-US" smtClean="0"/>
              <a:t>‹#›</a:t>
            </a:fld>
            <a:endParaRPr lang="en-US"/>
          </a:p>
        </p:txBody>
      </p:sp>
    </p:spTree>
    <p:extLst>
      <p:ext uri="{BB962C8B-B14F-4D97-AF65-F5344CB8AC3E}">
        <p14:creationId xmlns:p14="http://schemas.microsoft.com/office/powerpoint/2010/main" val="2258989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0FFFA7-441F-50E1-A716-AC6833AAAB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D1FB9B9-FF4D-9244-1F7D-98F874CA93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799808-6845-39EA-3256-B3F6ED28AC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FBD760-3C71-467A-88B1-1440ED683542}" type="datetimeFigureOut">
              <a:rPr lang="en-US" smtClean="0"/>
              <a:t>12/23/2025</a:t>
            </a:fld>
            <a:endParaRPr lang="en-US"/>
          </a:p>
        </p:txBody>
      </p:sp>
      <p:sp>
        <p:nvSpPr>
          <p:cNvPr id="5" name="Footer Placeholder 4">
            <a:extLst>
              <a:ext uri="{FF2B5EF4-FFF2-40B4-BE49-F238E27FC236}">
                <a16:creationId xmlns:a16="http://schemas.microsoft.com/office/drawing/2014/main" id="{28CE2A96-42F0-C2EA-1D5D-2AB730FB56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17B05EC-6F7A-BC17-BDEC-FF9652A1FB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CD607A-72E9-4BF2-9356-F51220A4424A}" type="slidenum">
              <a:rPr lang="en-US" smtClean="0"/>
              <a:t>‹#›</a:t>
            </a:fld>
            <a:endParaRPr lang="en-US"/>
          </a:p>
        </p:txBody>
      </p:sp>
    </p:spTree>
    <p:extLst>
      <p:ext uri="{BB962C8B-B14F-4D97-AF65-F5344CB8AC3E}">
        <p14:creationId xmlns:p14="http://schemas.microsoft.com/office/powerpoint/2010/main" val="12877944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871A2F-1D02-6452-5157-8CB541F3456A}"/>
              </a:ext>
            </a:extLst>
          </p:cNvPr>
          <p:cNvSpPr>
            <a:spLocks noGrp="1"/>
          </p:cNvSpPr>
          <p:nvPr>
            <p:ph type="ctrTitle"/>
          </p:nvPr>
        </p:nvSpPr>
        <p:spPr>
          <a:xfrm>
            <a:off x="4808008" y="2524079"/>
            <a:ext cx="6251110" cy="1431706"/>
          </a:xfrm>
        </p:spPr>
        <p:txBody>
          <a:bodyPr anchor="b">
            <a:normAutofit/>
          </a:bodyPr>
          <a:lstStyle/>
          <a:p>
            <a:r>
              <a:rPr lang="en-US" sz="4400" b="1" dirty="0"/>
              <a:t>Housing Affordability in Metro Nashville</a:t>
            </a:r>
          </a:p>
        </p:txBody>
      </p:sp>
      <p:sp>
        <p:nvSpPr>
          <p:cNvPr id="3" name="Subtitle 2">
            <a:extLst>
              <a:ext uri="{FF2B5EF4-FFF2-40B4-BE49-F238E27FC236}">
                <a16:creationId xmlns:a16="http://schemas.microsoft.com/office/drawing/2014/main" id="{FB4789A9-F273-59F1-B441-515130EFAB92}"/>
              </a:ext>
            </a:extLst>
          </p:cNvPr>
          <p:cNvSpPr>
            <a:spLocks noGrp="1"/>
          </p:cNvSpPr>
          <p:nvPr>
            <p:ph type="subTitle" idx="1"/>
          </p:nvPr>
        </p:nvSpPr>
        <p:spPr>
          <a:xfrm>
            <a:off x="5381626" y="4617720"/>
            <a:ext cx="4655865" cy="355092"/>
          </a:xfrm>
        </p:spPr>
        <p:txBody>
          <a:bodyPr>
            <a:normAutofit lnSpcReduction="10000"/>
          </a:bodyPr>
          <a:lstStyle/>
          <a:p>
            <a:pPr algn="l"/>
            <a:r>
              <a:rPr lang="en-US" sz="2000" dirty="0"/>
              <a:t>Luke Gaffney | DDA17 Capstone Project</a:t>
            </a:r>
          </a:p>
          <a:p>
            <a:pPr algn="l"/>
            <a:endParaRPr lang="en-US" dirty="0"/>
          </a:p>
        </p:txBody>
      </p:sp>
      <p:pic>
        <p:nvPicPr>
          <p:cNvPr id="5" name="Picture 4" descr="Houses in a subdivision">
            <a:extLst>
              <a:ext uri="{FF2B5EF4-FFF2-40B4-BE49-F238E27FC236}">
                <a16:creationId xmlns:a16="http://schemas.microsoft.com/office/drawing/2014/main" id="{F2BEEBFA-CA17-EDF1-8619-5BB733B403C6}"/>
              </a:ext>
            </a:extLst>
          </p:cNvPr>
          <p:cNvPicPr>
            <a:picLocks noChangeAspect="1"/>
          </p:cNvPicPr>
          <p:nvPr/>
        </p:nvPicPr>
        <p:blipFill>
          <a:blip r:embed="rId3"/>
          <a:srcRect l="33472" r="21197" b="-1"/>
          <a:stretch>
            <a:fillRect/>
          </a:stretch>
        </p:blipFill>
        <p:spPr>
          <a:xfrm>
            <a:off x="1" y="10"/>
            <a:ext cx="4571999"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30"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28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415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E9FC05C-E79A-F5B5-327B-29607701820D}"/>
              </a:ext>
            </a:extLst>
          </p:cNvPr>
          <p:cNvSpPr>
            <a:spLocks noGrp="1"/>
          </p:cNvSpPr>
          <p:nvPr>
            <p:ph type="title"/>
          </p:nvPr>
        </p:nvSpPr>
        <p:spPr>
          <a:xfrm>
            <a:off x="841248" y="548640"/>
            <a:ext cx="3600860" cy="5431536"/>
          </a:xfrm>
        </p:spPr>
        <p:txBody>
          <a:bodyPr>
            <a:normAutofit/>
          </a:bodyPr>
          <a:lstStyle/>
          <a:p>
            <a:pPr algn="ctr"/>
            <a:r>
              <a:rPr lang="en-US" b="1" dirty="0"/>
              <a:t>Purpose of This Analysis</a:t>
            </a:r>
          </a:p>
        </p:txBody>
      </p:sp>
      <p:sp>
        <p:nvSpPr>
          <p:cNvPr id="12"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sX0" fmla="*/ 0 w 4480560"/>
              <a:gd name="csY0" fmla="*/ 0 h 18288"/>
              <a:gd name="csX1" fmla="*/ 595274 w 4480560"/>
              <a:gd name="csY1" fmla="*/ 0 h 18288"/>
              <a:gd name="csX2" fmla="*/ 1100938 w 4480560"/>
              <a:gd name="csY2" fmla="*/ 0 h 18288"/>
              <a:gd name="csX3" fmla="*/ 1651406 w 4480560"/>
              <a:gd name="csY3" fmla="*/ 0 h 18288"/>
              <a:gd name="csX4" fmla="*/ 2336292 w 4480560"/>
              <a:gd name="csY4" fmla="*/ 0 h 18288"/>
              <a:gd name="csX5" fmla="*/ 2931566 w 4480560"/>
              <a:gd name="csY5" fmla="*/ 0 h 18288"/>
              <a:gd name="csX6" fmla="*/ 3482035 w 4480560"/>
              <a:gd name="csY6" fmla="*/ 0 h 18288"/>
              <a:gd name="csX7" fmla="*/ 4480560 w 4480560"/>
              <a:gd name="csY7" fmla="*/ 0 h 18288"/>
              <a:gd name="csX8" fmla="*/ 4480560 w 4480560"/>
              <a:gd name="csY8" fmla="*/ 18288 h 18288"/>
              <a:gd name="csX9" fmla="*/ 3840480 w 4480560"/>
              <a:gd name="csY9" fmla="*/ 18288 h 18288"/>
              <a:gd name="csX10" fmla="*/ 3290011 w 4480560"/>
              <a:gd name="csY10" fmla="*/ 18288 h 18288"/>
              <a:gd name="csX11" fmla="*/ 2560320 w 4480560"/>
              <a:gd name="csY11" fmla="*/ 18288 h 18288"/>
              <a:gd name="csX12" fmla="*/ 1965046 w 4480560"/>
              <a:gd name="csY12" fmla="*/ 18288 h 18288"/>
              <a:gd name="csX13" fmla="*/ 1459382 w 4480560"/>
              <a:gd name="csY13" fmla="*/ 18288 h 18288"/>
              <a:gd name="csX14" fmla="*/ 774497 w 4480560"/>
              <a:gd name="csY14" fmla="*/ 18288 h 18288"/>
              <a:gd name="csX15" fmla="*/ 0 w 4480560"/>
              <a:gd name="csY15" fmla="*/ 18288 h 18288"/>
              <a:gd name="csX16" fmla="*/ 0 w 448056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35E1C994-818C-0ACC-C41E-5E01DA946D82}"/>
              </a:ext>
            </a:extLst>
          </p:cNvPr>
          <p:cNvSpPr txBox="1"/>
          <p:nvPr/>
        </p:nvSpPr>
        <p:spPr>
          <a:xfrm>
            <a:off x="5223031" y="2602688"/>
            <a:ext cx="6403552" cy="1631216"/>
          </a:xfrm>
          <a:prstGeom prst="rect">
            <a:avLst/>
          </a:prstGeom>
          <a:noFill/>
        </p:spPr>
        <p:txBody>
          <a:bodyPr wrap="square" rtlCol="0">
            <a:spAutoFit/>
          </a:bodyPr>
          <a:lstStyle/>
          <a:p>
            <a:r>
              <a:rPr lang="en-US" sz="2000" dirty="0"/>
              <a:t>To evaluate changes in housing affordability in Metro Nashville from 2020 to 2023 by analyzing trends in home prices, mortgage interest rates, and household income, and to identify differences in affordability outcomes across ZIP codes.</a:t>
            </a:r>
          </a:p>
        </p:txBody>
      </p:sp>
    </p:spTree>
    <p:extLst>
      <p:ext uri="{BB962C8B-B14F-4D97-AF65-F5344CB8AC3E}">
        <p14:creationId xmlns:p14="http://schemas.microsoft.com/office/powerpoint/2010/main" val="3484887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43E77630-18EE-928C-634C-5E9C4E3C004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E6226DB-4232-F6B4-B520-30D963679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EEC8808-9AEF-CD15-EBA7-1CA3413867B0}"/>
              </a:ext>
            </a:extLst>
          </p:cNvPr>
          <p:cNvSpPr>
            <a:spLocks noGrp="1"/>
          </p:cNvSpPr>
          <p:nvPr>
            <p:ph type="title"/>
          </p:nvPr>
        </p:nvSpPr>
        <p:spPr>
          <a:xfrm>
            <a:off x="838200" y="365125"/>
            <a:ext cx="10515600" cy="1325563"/>
          </a:xfrm>
        </p:spPr>
        <p:txBody>
          <a:bodyPr>
            <a:normAutofit/>
          </a:bodyPr>
          <a:lstStyle/>
          <a:p>
            <a:r>
              <a:rPr lang="en-US" b="1" dirty="0"/>
              <a:t>Research Questions</a:t>
            </a:r>
          </a:p>
        </p:txBody>
      </p:sp>
      <p:sp>
        <p:nvSpPr>
          <p:cNvPr id="19" name="sketch line">
            <a:extLst>
              <a:ext uri="{FF2B5EF4-FFF2-40B4-BE49-F238E27FC236}">
                <a16:creationId xmlns:a16="http://schemas.microsoft.com/office/drawing/2014/main" id="{2490B431-C78D-22C2-2D2B-DDBF47A01F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TextBox 60">
            <a:extLst>
              <a:ext uri="{FF2B5EF4-FFF2-40B4-BE49-F238E27FC236}">
                <a16:creationId xmlns:a16="http://schemas.microsoft.com/office/drawing/2014/main" id="{A581FB95-F069-BC84-88AE-577884E5A698}"/>
              </a:ext>
            </a:extLst>
          </p:cNvPr>
          <p:cNvSpPr txBox="1"/>
          <p:nvPr/>
        </p:nvSpPr>
        <p:spPr>
          <a:xfrm>
            <a:off x="1569042" y="2055813"/>
            <a:ext cx="9050867" cy="4524315"/>
          </a:xfrm>
          <a:prstGeom prst="rect">
            <a:avLst/>
          </a:prstGeom>
          <a:noFill/>
        </p:spPr>
        <p:txBody>
          <a:bodyPr wrap="square" rtlCol="0">
            <a:spAutoFit/>
          </a:bodyPr>
          <a:lstStyle/>
          <a:p>
            <a:pPr marL="342900" indent="-342900">
              <a:buAutoNum type="arabicPeriod"/>
            </a:pPr>
            <a:r>
              <a:rPr lang="en-US" dirty="0"/>
              <a:t>How did median single-family home sale prices in Metro Nashville change between 2020 and 2023, and to what extent did median household income growth keep pace with these price changes?</a:t>
            </a:r>
          </a:p>
          <a:p>
            <a:pPr marL="342900" indent="-342900">
              <a:buFont typeface="+mj-lt"/>
              <a:buAutoNum type="arabicPeriod"/>
            </a:pPr>
            <a:endParaRPr lang="en-US" dirty="0"/>
          </a:p>
          <a:p>
            <a:pPr marL="342900" indent="-342900">
              <a:buFontTx/>
              <a:buAutoNum type="arabicPeriod"/>
            </a:pPr>
            <a:r>
              <a:rPr lang="en-US" dirty="0"/>
              <a:t>How did housing inventory levels and home sales volume in Metro Nashville change between 2020 and 2023, and how did these market conditions correspond with changes in median home sale prices?</a:t>
            </a:r>
          </a:p>
          <a:p>
            <a:pPr marL="342900" indent="-342900">
              <a:buFont typeface="+mj-lt"/>
              <a:buAutoNum type="arabicPeriod"/>
            </a:pPr>
            <a:endParaRPr lang="en-US" dirty="0"/>
          </a:p>
          <a:p>
            <a:pPr marL="342900" indent="-342900">
              <a:buFontTx/>
              <a:buAutoNum type="arabicPeriod"/>
            </a:pPr>
            <a:r>
              <a:rPr lang="en-US" dirty="0"/>
              <a:t>How did changes in 30-year fixed mortgage interest rates between 2020 and 2023 influence homeownership affordability for a median-income household in Metro Nashville?</a:t>
            </a:r>
          </a:p>
          <a:p>
            <a:pPr marL="342900" indent="-342900">
              <a:buFont typeface="+mj-lt"/>
              <a:buAutoNum type="arabicPeriod"/>
            </a:pPr>
            <a:endParaRPr lang="en-US" dirty="0"/>
          </a:p>
          <a:p>
            <a:pPr marL="342900" indent="-342900">
              <a:buFont typeface="+mj-lt"/>
              <a:buAutoNum type="arabicPeriod"/>
            </a:pPr>
            <a:r>
              <a:rPr lang="en-US" dirty="0"/>
              <a:t>Were changes in housing affordability evenly distributed across ZIP codes in Metro Nashville between 2020 and 2023, or did certain ZIP codes experience disproportionately larger shifts in affordability?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50568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56F808D7-A765-76F0-9157-9650D33648AF}"/>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34538BD-5182-757D-AA03-7FE43366C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D3BA9AF-2BD7-97AC-F960-51216C2F9482}"/>
              </a:ext>
            </a:extLst>
          </p:cNvPr>
          <p:cNvSpPr>
            <a:spLocks noGrp="1"/>
          </p:cNvSpPr>
          <p:nvPr>
            <p:ph type="title"/>
          </p:nvPr>
        </p:nvSpPr>
        <p:spPr>
          <a:xfrm>
            <a:off x="838200" y="365125"/>
            <a:ext cx="10515600" cy="1325563"/>
          </a:xfrm>
        </p:spPr>
        <p:txBody>
          <a:bodyPr>
            <a:normAutofit/>
          </a:bodyPr>
          <a:lstStyle/>
          <a:p>
            <a:r>
              <a:rPr lang="en-US" b="1" dirty="0"/>
              <a:t>About the data</a:t>
            </a:r>
          </a:p>
        </p:txBody>
      </p:sp>
      <p:sp>
        <p:nvSpPr>
          <p:cNvPr id="19" name="sketch line">
            <a:extLst>
              <a:ext uri="{FF2B5EF4-FFF2-40B4-BE49-F238E27FC236}">
                <a16:creationId xmlns:a16="http://schemas.microsoft.com/office/drawing/2014/main" id="{E2E8BF61-004B-D31B-5057-33B6A1A098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1" name="TextBox 60">
            <a:extLst>
              <a:ext uri="{FF2B5EF4-FFF2-40B4-BE49-F238E27FC236}">
                <a16:creationId xmlns:a16="http://schemas.microsoft.com/office/drawing/2014/main" id="{BFD046D5-C800-2F5C-68F0-9AD62A89727F}"/>
              </a:ext>
            </a:extLst>
          </p:cNvPr>
          <p:cNvSpPr txBox="1"/>
          <p:nvPr/>
        </p:nvSpPr>
        <p:spPr>
          <a:xfrm>
            <a:off x="838200" y="2055813"/>
            <a:ext cx="9050867" cy="3970318"/>
          </a:xfrm>
          <a:prstGeom prst="rect">
            <a:avLst/>
          </a:prstGeom>
          <a:noFill/>
        </p:spPr>
        <p:txBody>
          <a:bodyPr wrap="square" rtlCol="0">
            <a:spAutoFit/>
          </a:bodyPr>
          <a:lstStyle/>
          <a:p>
            <a:pPr marL="285750" indent="-285750">
              <a:buFont typeface="Arial" panose="020B0604020202020204" pitchFamily="34" charset="0"/>
              <a:buChar char="•"/>
            </a:pPr>
            <a:r>
              <a:rPr lang="en-US" b="1" dirty="0"/>
              <a:t>Scope</a:t>
            </a:r>
            <a:endParaRPr lang="en-US" dirty="0"/>
          </a:p>
          <a:p>
            <a:pPr marL="742950" lvl="1" indent="-285750">
              <a:buFont typeface="Arial" panose="020B0604020202020204" pitchFamily="34" charset="0"/>
              <a:buChar char="•"/>
            </a:pPr>
            <a:r>
              <a:rPr lang="en-US" b="1" dirty="0"/>
              <a:t>Location:</a:t>
            </a:r>
            <a:r>
              <a:rPr lang="en-US" dirty="0"/>
              <a:t> Metro Nashville</a:t>
            </a:r>
          </a:p>
          <a:p>
            <a:pPr marL="742950" lvl="1" indent="-285750">
              <a:buFont typeface="Arial" panose="020B0604020202020204" pitchFamily="34" charset="0"/>
              <a:buChar char="•"/>
            </a:pPr>
            <a:r>
              <a:rPr lang="en-US" b="1" dirty="0"/>
              <a:t>Period:</a:t>
            </a:r>
            <a:r>
              <a:rPr lang="en-US" dirty="0"/>
              <a:t> 2020–2023</a:t>
            </a:r>
          </a:p>
          <a:p>
            <a:pPr marL="742950" lvl="1" indent="-285750">
              <a:buFont typeface="Arial" panose="020B0604020202020204" pitchFamily="34" charset="0"/>
              <a:buChar char="•"/>
            </a:pPr>
            <a:r>
              <a:rPr lang="en-US" b="1" dirty="0"/>
              <a:t>Focus:</a:t>
            </a:r>
            <a:r>
              <a:rPr lang="en-US" dirty="0"/>
              <a:t> Single-family housing affordability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Data Sources</a:t>
            </a:r>
            <a:endParaRPr lang="en-US" dirty="0"/>
          </a:p>
          <a:p>
            <a:pPr marL="742950" lvl="1" indent="-285750">
              <a:buFont typeface="Arial" panose="020B0604020202020204" pitchFamily="34" charset="0"/>
              <a:buChar char="•"/>
            </a:pPr>
            <a:r>
              <a:rPr lang="en-US" b="1" dirty="0"/>
              <a:t>Metro Nashville Parcel Sales Data:</a:t>
            </a:r>
            <a:r>
              <a:rPr lang="en-US" dirty="0"/>
              <a:t> Used to calculate </a:t>
            </a:r>
            <a:r>
              <a:rPr lang="en-US" b="1" dirty="0"/>
              <a:t>median single-family home sale prices</a:t>
            </a:r>
            <a:r>
              <a:rPr lang="en-US" dirty="0"/>
              <a:t> from observed transactions</a:t>
            </a:r>
          </a:p>
          <a:p>
            <a:pPr marL="742950" lvl="1" indent="-285750">
              <a:buFont typeface="Arial" panose="020B0604020202020204" pitchFamily="34" charset="0"/>
              <a:buChar char="•"/>
            </a:pPr>
            <a:r>
              <a:rPr lang="en-US" b="1" dirty="0"/>
              <a:t>Redfin Market Data:</a:t>
            </a:r>
            <a:r>
              <a:rPr lang="en-US" dirty="0"/>
              <a:t> Used for </a:t>
            </a:r>
            <a:r>
              <a:rPr lang="en-US" b="1" dirty="0"/>
              <a:t>inventory indicators, total homes sold, and market competitiveness</a:t>
            </a:r>
            <a:endParaRPr lang="en-US" dirty="0"/>
          </a:p>
          <a:p>
            <a:pPr marL="742950" lvl="1" indent="-285750">
              <a:buFont typeface="Arial" panose="020B0604020202020204" pitchFamily="34" charset="0"/>
              <a:buChar char="•"/>
            </a:pPr>
            <a:r>
              <a:rPr lang="en-US" b="1" dirty="0"/>
              <a:t>U.S. Census ACS:</a:t>
            </a:r>
            <a:r>
              <a:rPr lang="en-US" dirty="0"/>
              <a:t> Used for </a:t>
            </a:r>
            <a:r>
              <a:rPr lang="en-US" b="1" dirty="0"/>
              <a:t>median household income and housing context</a:t>
            </a:r>
            <a:r>
              <a:rPr lang="en-US" dirty="0"/>
              <a:t> at the ZIP (ZCTA) level</a:t>
            </a:r>
          </a:p>
          <a:p>
            <a:pPr marL="742950" lvl="1" indent="-285750">
              <a:buFont typeface="Arial" panose="020B0604020202020204" pitchFamily="34" charset="0"/>
              <a:buChar char="•"/>
            </a:pPr>
            <a:r>
              <a:rPr lang="en-US" b="1" dirty="0"/>
              <a:t>FRED (Federal Reserve Economic Data): </a:t>
            </a:r>
            <a:r>
              <a:rPr lang="en-US" dirty="0"/>
              <a:t>Used for </a:t>
            </a:r>
            <a:r>
              <a:rPr lang="en-US" b="1" dirty="0"/>
              <a:t>30-year fixed mortgage interest rates</a:t>
            </a:r>
            <a:endParaRPr lang="en-US" dirty="0"/>
          </a:p>
        </p:txBody>
      </p:sp>
    </p:spTree>
    <p:extLst>
      <p:ext uri="{BB962C8B-B14F-4D97-AF65-F5344CB8AC3E}">
        <p14:creationId xmlns:p14="http://schemas.microsoft.com/office/powerpoint/2010/main" val="8355994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DF2F295F-C423-1C7A-F0D5-B4FEC5277C9B}"/>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464FE2B-8E3D-B874-D701-0EA99F5F13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FB1300D-AC32-6A7E-3302-C38583BC0E9A}"/>
              </a:ext>
            </a:extLst>
          </p:cNvPr>
          <p:cNvSpPr>
            <a:spLocks noGrp="1"/>
          </p:cNvSpPr>
          <p:nvPr>
            <p:ph type="title"/>
          </p:nvPr>
        </p:nvSpPr>
        <p:spPr>
          <a:xfrm>
            <a:off x="838200" y="365125"/>
            <a:ext cx="11201400" cy="1325563"/>
          </a:xfrm>
        </p:spPr>
        <p:txBody>
          <a:bodyPr>
            <a:normAutofit/>
          </a:bodyPr>
          <a:lstStyle/>
          <a:p>
            <a:r>
              <a:rPr lang="nb-NO" b="1" dirty="0"/>
              <a:t>Metro Nashville Housing Market Snapshot</a:t>
            </a:r>
            <a:endParaRPr lang="en-US" b="1" dirty="0"/>
          </a:p>
        </p:txBody>
      </p:sp>
      <p:sp>
        <p:nvSpPr>
          <p:cNvPr id="19" name="sketch line">
            <a:extLst>
              <a:ext uri="{FF2B5EF4-FFF2-40B4-BE49-F238E27FC236}">
                <a16:creationId xmlns:a16="http://schemas.microsoft.com/office/drawing/2014/main" id="{7E048FF6-6921-1686-C0B2-27EB2F41A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0" name="Rectangle 49">
            <a:extLst>
              <a:ext uri="{FF2B5EF4-FFF2-40B4-BE49-F238E27FC236}">
                <a16:creationId xmlns:a16="http://schemas.microsoft.com/office/drawing/2014/main" id="{7B064B8D-B47F-4375-2B50-CF6CF3893C03}"/>
              </a:ext>
            </a:extLst>
          </p:cNvPr>
          <p:cNvSpPr/>
          <p:nvPr/>
        </p:nvSpPr>
        <p:spPr>
          <a:xfrm>
            <a:off x="669036" y="2593271"/>
            <a:ext cx="2514600" cy="1600200"/>
          </a:xfrm>
          <a:prstGeom prst="rect">
            <a:avLst/>
          </a:prstGeom>
          <a:solidFill>
            <a:srgbClr val="F2F2F2"/>
          </a:solidFill>
          <a:ln>
            <a:solidFill>
              <a:schemeClr val="bg2">
                <a:lumMod val="25000"/>
              </a:schemeClr>
            </a:solid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A0F0684F-4197-6064-55B4-98EB35BEC608}"/>
              </a:ext>
            </a:extLst>
          </p:cNvPr>
          <p:cNvSpPr/>
          <p:nvPr/>
        </p:nvSpPr>
        <p:spPr>
          <a:xfrm>
            <a:off x="3525013" y="4460187"/>
            <a:ext cx="2514600" cy="1600200"/>
          </a:xfrm>
          <a:prstGeom prst="rect">
            <a:avLst/>
          </a:prstGeom>
          <a:solidFill>
            <a:srgbClr val="F2F2F2"/>
          </a:solidFill>
          <a:ln>
            <a:solidFill>
              <a:schemeClr val="bg2">
                <a:lumMod val="25000"/>
              </a:schemeClr>
            </a:solid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4" name="Rectangle 53">
            <a:extLst>
              <a:ext uri="{FF2B5EF4-FFF2-40B4-BE49-F238E27FC236}">
                <a16:creationId xmlns:a16="http://schemas.microsoft.com/office/drawing/2014/main" id="{1EDDE1D7-883C-62FF-3687-9FBB1577874D}"/>
              </a:ext>
            </a:extLst>
          </p:cNvPr>
          <p:cNvSpPr/>
          <p:nvPr/>
        </p:nvSpPr>
        <p:spPr>
          <a:xfrm>
            <a:off x="3513695" y="2593271"/>
            <a:ext cx="2514600" cy="1600200"/>
          </a:xfrm>
          <a:prstGeom prst="rect">
            <a:avLst/>
          </a:prstGeom>
          <a:solidFill>
            <a:srgbClr val="F2F2F2"/>
          </a:solidFill>
          <a:ln>
            <a:solidFill>
              <a:schemeClr val="bg2">
                <a:lumMod val="25000"/>
              </a:schemeClr>
            </a:solid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5" name="Rectangle 54">
            <a:extLst>
              <a:ext uri="{FF2B5EF4-FFF2-40B4-BE49-F238E27FC236}">
                <a16:creationId xmlns:a16="http://schemas.microsoft.com/office/drawing/2014/main" id="{F9704708-6D90-46C9-1CAE-40013BD95D43}"/>
              </a:ext>
            </a:extLst>
          </p:cNvPr>
          <p:cNvSpPr/>
          <p:nvPr/>
        </p:nvSpPr>
        <p:spPr>
          <a:xfrm>
            <a:off x="9236966" y="4460187"/>
            <a:ext cx="2514600" cy="1600200"/>
          </a:xfrm>
          <a:prstGeom prst="rect">
            <a:avLst/>
          </a:prstGeom>
          <a:solidFill>
            <a:srgbClr val="F2F2F2"/>
          </a:solidFill>
          <a:ln>
            <a:solidFill>
              <a:schemeClr val="bg2">
                <a:lumMod val="25000"/>
              </a:schemeClr>
            </a:solid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6" name="Rectangle 55">
            <a:extLst>
              <a:ext uri="{FF2B5EF4-FFF2-40B4-BE49-F238E27FC236}">
                <a16:creationId xmlns:a16="http://schemas.microsoft.com/office/drawing/2014/main" id="{F92D9006-4F0B-4761-2C1A-A8C48A31A008}"/>
              </a:ext>
            </a:extLst>
          </p:cNvPr>
          <p:cNvSpPr/>
          <p:nvPr/>
        </p:nvSpPr>
        <p:spPr>
          <a:xfrm>
            <a:off x="9203012" y="2593271"/>
            <a:ext cx="2514600" cy="1600200"/>
          </a:xfrm>
          <a:prstGeom prst="rect">
            <a:avLst/>
          </a:prstGeom>
          <a:solidFill>
            <a:srgbClr val="F2F2F2"/>
          </a:solidFill>
          <a:ln>
            <a:solidFill>
              <a:schemeClr val="bg2">
                <a:lumMod val="25000"/>
              </a:schemeClr>
            </a:solid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32D69E2D-ACD2-E3BF-DC2D-FE6E5D6DFB26}"/>
              </a:ext>
            </a:extLst>
          </p:cNvPr>
          <p:cNvSpPr/>
          <p:nvPr/>
        </p:nvSpPr>
        <p:spPr>
          <a:xfrm>
            <a:off x="669036" y="4460187"/>
            <a:ext cx="2514600" cy="1600200"/>
          </a:xfrm>
          <a:prstGeom prst="rect">
            <a:avLst/>
          </a:prstGeom>
          <a:solidFill>
            <a:srgbClr val="F2F2F2"/>
          </a:solidFill>
          <a:ln>
            <a:solidFill>
              <a:schemeClr val="bg2">
                <a:lumMod val="25000"/>
              </a:schemeClr>
            </a:solid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A2B05C51-F692-ADF1-1A14-326A496A24C3}"/>
              </a:ext>
            </a:extLst>
          </p:cNvPr>
          <p:cNvSpPr/>
          <p:nvPr/>
        </p:nvSpPr>
        <p:spPr>
          <a:xfrm>
            <a:off x="6380990" y="4460187"/>
            <a:ext cx="2514600" cy="1600200"/>
          </a:xfrm>
          <a:prstGeom prst="rect">
            <a:avLst/>
          </a:prstGeom>
          <a:solidFill>
            <a:srgbClr val="F2F2F2"/>
          </a:solidFill>
          <a:ln>
            <a:solidFill>
              <a:schemeClr val="bg2">
                <a:lumMod val="25000"/>
              </a:schemeClr>
            </a:solid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9BFF97D0-ED64-E128-C274-C00499EFFAE4}"/>
              </a:ext>
            </a:extLst>
          </p:cNvPr>
          <p:cNvSpPr/>
          <p:nvPr/>
        </p:nvSpPr>
        <p:spPr>
          <a:xfrm>
            <a:off x="6358354" y="2593271"/>
            <a:ext cx="2514600" cy="1600200"/>
          </a:xfrm>
          <a:prstGeom prst="rect">
            <a:avLst/>
          </a:prstGeom>
          <a:solidFill>
            <a:srgbClr val="F2F2F2"/>
          </a:solidFill>
          <a:ln>
            <a:solidFill>
              <a:schemeClr val="bg2">
                <a:lumMod val="25000"/>
              </a:schemeClr>
            </a:solidFill>
          </a:ln>
          <a:effectLst>
            <a:outerShdw blurRad="63500" sx="102000" sy="102000" algn="ctr"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62" name="TextBox 61">
            <a:extLst>
              <a:ext uri="{FF2B5EF4-FFF2-40B4-BE49-F238E27FC236}">
                <a16:creationId xmlns:a16="http://schemas.microsoft.com/office/drawing/2014/main" id="{EC08A544-DE54-C799-B423-36CDCF2C5E78}"/>
              </a:ext>
            </a:extLst>
          </p:cNvPr>
          <p:cNvSpPr txBox="1"/>
          <p:nvPr/>
        </p:nvSpPr>
        <p:spPr>
          <a:xfrm>
            <a:off x="898058" y="2977872"/>
            <a:ext cx="2056555" cy="830997"/>
          </a:xfrm>
          <a:prstGeom prst="rect">
            <a:avLst/>
          </a:prstGeom>
          <a:noFill/>
        </p:spPr>
        <p:txBody>
          <a:bodyPr wrap="square" rtlCol="0">
            <a:spAutoFit/>
          </a:bodyPr>
          <a:lstStyle/>
          <a:p>
            <a:pPr algn="ctr"/>
            <a:r>
              <a:rPr lang="en-US" sz="3400" b="1" dirty="0"/>
              <a:t>$320,000</a:t>
            </a:r>
          </a:p>
          <a:p>
            <a:pPr algn="ctr"/>
            <a:r>
              <a:rPr lang="en-US" sz="1400" dirty="0"/>
              <a:t>Median Sale Price</a:t>
            </a:r>
          </a:p>
        </p:txBody>
      </p:sp>
      <p:sp>
        <p:nvSpPr>
          <p:cNvPr id="63" name="TextBox 62">
            <a:extLst>
              <a:ext uri="{FF2B5EF4-FFF2-40B4-BE49-F238E27FC236}">
                <a16:creationId xmlns:a16="http://schemas.microsoft.com/office/drawing/2014/main" id="{5CDB8C99-1CCB-5587-C46B-2A5DF5A29899}"/>
              </a:ext>
            </a:extLst>
          </p:cNvPr>
          <p:cNvSpPr txBox="1"/>
          <p:nvPr/>
        </p:nvSpPr>
        <p:spPr>
          <a:xfrm>
            <a:off x="6574972" y="2977872"/>
            <a:ext cx="2089881" cy="830997"/>
          </a:xfrm>
          <a:prstGeom prst="rect">
            <a:avLst/>
          </a:prstGeom>
          <a:noFill/>
        </p:spPr>
        <p:txBody>
          <a:bodyPr wrap="square" rtlCol="0">
            <a:spAutoFit/>
          </a:bodyPr>
          <a:lstStyle/>
          <a:p>
            <a:pPr algn="ctr"/>
            <a:r>
              <a:rPr lang="en-US" sz="3400" b="1" dirty="0"/>
              <a:t>$437,200</a:t>
            </a:r>
          </a:p>
          <a:p>
            <a:pPr algn="ctr"/>
            <a:r>
              <a:rPr lang="en-US" sz="1400" dirty="0"/>
              <a:t>Median Sale Price</a:t>
            </a:r>
          </a:p>
        </p:txBody>
      </p:sp>
      <p:sp>
        <p:nvSpPr>
          <p:cNvPr id="65" name="TextBox 64">
            <a:extLst>
              <a:ext uri="{FF2B5EF4-FFF2-40B4-BE49-F238E27FC236}">
                <a16:creationId xmlns:a16="http://schemas.microsoft.com/office/drawing/2014/main" id="{40D337F7-9BCF-4A96-AD0F-AE467E9DF863}"/>
              </a:ext>
            </a:extLst>
          </p:cNvPr>
          <p:cNvSpPr txBox="1"/>
          <p:nvPr/>
        </p:nvSpPr>
        <p:spPr>
          <a:xfrm>
            <a:off x="3599856" y="2977872"/>
            <a:ext cx="2329873" cy="830997"/>
          </a:xfrm>
          <a:prstGeom prst="rect">
            <a:avLst/>
          </a:prstGeom>
          <a:noFill/>
        </p:spPr>
        <p:txBody>
          <a:bodyPr wrap="square" rtlCol="0">
            <a:spAutoFit/>
          </a:bodyPr>
          <a:lstStyle/>
          <a:p>
            <a:pPr algn="ctr"/>
            <a:r>
              <a:rPr lang="en-US" sz="3400" b="1" dirty="0"/>
              <a:t>$74,974</a:t>
            </a:r>
          </a:p>
          <a:p>
            <a:pPr algn="ctr"/>
            <a:r>
              <a:rPr lang="en-US" sz="1400" dirty="0"/>
              <a:t>Median Household Income</a:t>
            </a:r>
          </a:p>
        </p:txBody>
      </p:sp>
      <p:sp>
        <p:nvSpPr>
          <p:cNvPr id="67" name="TextBox 66">
            <a:extLst>
              <a:ext uri="{FF2B5EF4-FFF2-40B4-BE49-F238E27FC236}">
                <a16:creationId xmlns:a16="http://schemas.microsoft.com/office/drawing/2014/main" id="{CD7201A7-9E3A-067E-7422-34FDC06F2DFB}"/>
              </a:ext>
            </a:extLst>
          </p:cNvPr>
          <p:cNvSpPr txBox="1"/>
          <p:nvPr/>
        </p:nvSpPr>
        <p:spPr>
          <a:xfrm>
            <a:off x="9310097" y="2977872"/>
            <a:ext cx="2368338" cy="830997"/>
          </a:xfrm>
          <a:prstGeom prst="rect">
            <a:avLst/>
          </a:prstGeom>
          <a:noFill/>
        </p:spPr>
        <p:txBody>
          <a:bodyPr wrap="square" rtlCol="0">
            <a:spAutoFit/>
          </a:bodyPr>
          <a:lstStyle/>
          <a:p>
            <a:pPr algn="ctr"/>
            <a:r>
              <a:rPr lang="en-US" sz="3400" b="1" dirty="0"/>
              <a:t>$90,246</a:t>
            </a:r>
          </a:p>
          <a:p>
            <a:pPr algn="ctr"/>
            <a:r>
              <a:rPr lang="en-US" sz="1400" dirty="0"/>
              <a:t>Median Household Income</a:t>
            </a:r>
          </a:p>
        </p:txBody>
      </p:sp>
      <p:sp>
        <p:nvSpPr>
          <p:cNvPr id="3" name="TextBox 2">
            <a:extLst>
              <a:ext uri="{FF2B5EF4-FFF2-40B4-BE49-F238E27FC236}">
                <a16:creationId xmlns:a16="http://schemas.microsoft.com/office/drawing/2014/main" id="{BD7F736E-6940-81F4-8CCE-71C9F3341512}"/>
              </a:ext>
            </a:extLst>
          </p:cNvPr>
          <p:cNvSpPr txBox="1"/>
          <p:nvPr/>
        </p:nvSpPr>
        <p:spPr>
          <a:xfrm>
            <a:off x="2799451" y="1816327"/>
            <a:ext cx="1428488" cy="646331"/>
          </a:xfrm>
          <a:prstGeom prst="rect">
            <a:avLst/>
          </a:prstGeom>
          <a:noFill/>
        </p:spPr>
        <p:txBody>
          <a:bodyPr wrap="square" rtlCol="0">
            <a:spAutoFit/>
          </a:bodyPr>
          <a:lstStyle/>
          <a:p>
            <a:r>
              <a:rPr lang="en-US" sz="3600" b="1" dirty="0"/>
              <a:t>2020</a:t>
            </a:r>
          </a:p>
        </p:txBody>
      </p:sp>
      <p:sp>
        <p:nvSpPr>
          <p:cNvPr id="4" name="TextBox 3">
            <a:extLst>
              <a:ext uri="{FF2B5EF4-FFF2-40B4-BE49-F238E27FC236}">
                <a16:creationId xmlns:a16="http://schemas.microsoft.com/office/drawing/2014/main" id="{E493CBD1-94BF-5E0A-77DB-FF5C226FD519}"/>
              </a:ext>
            </a:extLst>
          </p:cNvPr>
          <p:cNvSpPr txBox="1"/>
          <p:nvPr/>
        </p:nvSpPr>
        <p:spPr>
          <a:xfrm>
            <a:off x="8488768" y="1863382"/>
            <a:ext cx="1428488" cy="646331"/>
          </a:xfrm>
          <a:prstGeom prst="rect">
            <a:avLst/>
          </a:prstGeom>
          <a:noFill/>
        </p:spPr>
        <p:txBody>
          <a:bodyPr wrap="square" rtlCol="0">
            <a:spAutoFit/>
          </a:bodyPr>
          <a:lstStyle/>
          <a:p>
            <a:r>
              <a:rPr lang="en-US" sz="3600" b="1" dirty="0"/>
              <a:t>2023</a:t>
            </a:r>
          </a:p>
        </p:txBody>
      </p:sp>
      <p:sp>
        <p:nvSpPr>
          <p:cNvPr id="5" name="TextBox 4">
            <a:extLst>
              <a:ext uri="{FF2B5EF4-FFF2-40B4-BE49-F238E27FC236}">
                <a16:creationId xmlns:a16="http://schemas.microsoft.com/office/drawing/2014/main" id="{7188F6DC-749C-0E58-9C52-708EB0881C1C}"/>
              </a:ext>
            </a:extLst>
          </p:cNvPr>
          <p:cNvSpPr txBox="1"/>
          <p:nvPr/>
        </p:nvSpPr>
        <p:spPr>
          <a:xfrm>
            <a:off x="898057" y="4765128"/>
            <a:ext cx="2056555" cy="1261884"/>
          </a:xfrm>
          <a:prstGeom prst="rect">
            <a:avLst/>
          </a:prstGeom>
          <a:noFill/>
        </p:spPr>
        <p:txBody>
          <a:bodyPr wrap="square" rtlCol="0">
            <a:spAutoFit/>
          </a:bodyPr>
          <a:lstStyle/>
          <a:p>
            <a:pPr algn="ctr"/>
            <a:r>
              <a:rPr lang="en-US" sz="3400" b="1" dirty="0"/>
              <a:t>38,234</a:t>
            </a:r>
          </a:p>
          <a:p>
            <a:pPr algn="ctr"/>
            <a:r>
              <a:rPr lang="en-US" sz="1400" dirty="0"/>
              <a:t>Total Single-Family Home Sales</a:t>
            </a:r>
          </a:p>
          <a:p>
            <a:pPr algn="ctr"/>
            <a:endParaRPr lang="en-US" sz="1400" dirty="0"/>
          </a:p>
        </p:txBody>
      </p:sp>
      <p:sp>
        <p:nvSpPr>
          <p:cNvPr id="6" name="TextBox 5">
            <a:extLst>
              <a:ext uri="{FF2B5EF4-FFF2-40B4-BE49-F238E27FC236}">
                <a16:creationId xmlns:a16="http://schemas.microsoft.com/office/drawing/2014/main" id="{E9D36018-8142-2EDD-EF2A-A6BBC8C171D8}"/>
              </a:ext>
            </a:extLst>
          </p:cNvPr>
          <p:cNvSpPr txBox="1"/>
          <p:nvPr/>
        </p:nvSpPr>
        <p:spPr>
          <a:xfrm>
            <a:off x="9432034" y="4765128"/>
            <a:ext cx="2056555" cy="830997"/>
          </a:xfrm>
          <a:prstGeom prst="rect">
            <a:avLst/>
          </a:prstGeom>
          <a:noFill/>
        </p:spPr>
        <p:txBody>
          <a:bodyPr wrap="square" rtlCol="0">
            <a:spAutoFit/>
          </a:bodyPr>
          <a:lstStyle/>
          <a:p>
            <a:pPr algn="ctr"/>
            <a:r>
              <a:rPr lang="en-US" sz="3400" b="1" dirty="0"/>
              <a:t>6.81%</a:t>
            </a:r>
          </a:p>
          <a:p>
            <a:pPr algn="ctr"/>
            <a:r>
              <a:rPr lang="en-US" sz="1400" dirty="0"/>
              <a:t>Avg 30-Yr Mortgage Rate</a:t>
            </a:r>
          </a:p>
        </p:txBody>
      </p:sp>
      <p:sp>
        <p:nvSpPr>
          <p:cNvPr id="7" name="TextBox 6">
            <a:extLst>
              <a:ext uri="{FF2B5EF4-FFF2-40B4-BE49-F238E27FC236}">
                <a16:creationId xmlns:a16="http://schemas.microsoft.com/office/drawing/2014/main" id="{29E4D0B8-5AD9-3177-AEEB-D8BF77B12F2A}"/>
              </a:ext>
            </a:extLst>
          </p:cNvPr>
          <p:cNvSpPr txBox="1"/>
          <p:nvPr/>
        </p:nvSpPr>
        <p:spPr>
          <a:xfrm>
            <a:off x="6587375" y="4765128"/>
            <a:ext cx="2056555" cy="1261884"/>
          </a:xfrm>
          <a:prstGeom prst="rect">
            <a:avLst/>
          </a:prstGeom>
          <a:noFill/>
        </p:spPr>
        <p:txBody>
          <a:bodyPr wrap="square" rtlCol="0">
            <a:spAutoFit/>
          </a:bodyPr>
          <a:lstStyle/>
          <a:p>
            <a:pPr algn="ctr"/>
            <a:r>
              <a:rPr lang="en-US" sz="3400" b="1" dirty="0"/>
              <a:t>26,570</a:t>
            </a:r>
          </a:p>
          <a:p>
            <a:pPr algn="ctr"/>
            <a:r>
              <a:rPr lang="en-US" sz="1400" dirty="0"/>
              <a:t>Total Single-Family Home Sales</a:t>
            </a:r>
          </a:p>
          <a:p>
            <a:pPr algn="ctr"/>
            <a:endParaRPr lang="en-US" sz="1400" dirty="0"/>
          </a:p>
        </p:txBody>
      </p:sp>
      <p:sp>
        <p:nvSpPr>
          <p:cNvPr id="8" name="TextBox 7">
            <a:extLst>
              <a:ext uri="{FF2B5EF4-FFF2-40B4-BE49-F238E27FC236}">
                <a16:creationId xmlns:a16="http://schemas.microsoft.com/office/drawing/2014/main" id="{C50D66DC-6DC7-0FFF-14AB-BE095496AAF2}"/>
              </a:ext>
            </a:extLst>
          </p:cNvPr>
          <p:cNvSpPr txBox="1"/>
          <p:nvPr/>
        </p:nvSpPr>
        <p:spPr>
          <a:xfrm>
            <a:off x="3742716" y="4765128"/>
            <a:ext cx="2056555" cy="830997"/>
          </a:xfrm>
          <a:prstGeom prst="rect">
            <a:avLst/>
          </a:prstGeom>
          <a:noFill/>
        </p:spPr>
        <p:txBody>
          <a:bodyPr wrap="square" rtlCol="0">
            <a:spAutoFit/>
          </a:bodyPr>
          <a:lstStyle/>
          <a:p>
            <a:pPr algn="ctr"/>
            <a:r>
              <a:rPr lang="en-US" sz="3400" b="1" dirty="0"/>
              <a:t>3.11%</a:t>
            </a:r>
          </a:p>
          <a:p>
            <a:pPr algn="ctr"/>
            <a:r>
              <a:rPr lang="en-US" sz="1400" dirty="0"/>
              <a:t>Avg 30-Yr Mortgage Rate</a:t>
            </a:r>
          </a:p>
        </p:txBody>
      </p:sp>
      <p:sp>
        <p:nvSpPr>
          <p:cNvPr id="9" name="TextBox 8">
            <a:extLst>
              <a:ext uri="{FF2B5EF4-FFF2-40B4-BE49-F238E27FC236}">
                <a16:creationId xmlns:a16="http://schemas.microsoft.com/office/drawing/2014/main" id="{3C7FBA32-85DE-EFE7-0D4A-994A972D3294}"/>
              </a:ext>
            </a:extLst>
          </p:cNvPr>
          <p:cNvSpPr txBox="1"/>
          <p:nvPr/>
        </p:nvSpPr>
        <p:spPr>
          <a:xfrm>
            <a:off x="129545" y="6537321"/>
            <a:ext cx="4873450" cy="215444"/>
          </a:xfrm>
          <a:prstGeom prst="rect">
            <a:avLst/>
          </a:prstGeom>
          <a:noFill/>
        </p:spPr>
        <p:txBody>
          <a:bodyPr wrap="square" rtlCol="0">
            <a:spAutoFit/>
          </a:bodyPr>
          <a:lstStyle/>
          <a:p>
            <a:r>
              <a:rPr lang="en-US" sz="800" i="1" dirty="0"/>
              <a:t>Sources: Metro Nashville Parcel Data, Redfin, U.S. Census ACS, FRED</a:t>
            </a:r>
          </a:p>
        </p:txBody>
      </p:sp>
    </p:spTree>
    <p:extLst>
      <p:ext uri="{BB962C8B-B14F-4D97-AF65-F5344CB8AC3E}">
        <p14:creationId xmlns:p14="http://schemas.microsoft.com/office/powerpoint/2010/main" val="542633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2A8644FC-F1EA-B271-90B9-23789C241C95}"/>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CA92C0F-82BD-C8E1-30EE-506B07DFE9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9061BB3-7E15-2851-2DDF-7643C2B84269}"/>
              </a:ext>
            </a:extLst>
          </p:cNvPr>
          <p:cNvSpPr>
            <a:spLocks noGrp="1"/>
          </p:cNvSpPr>
          <p:nvPr>
            <p:ph type="title"/>
          </p:nvPr>
        </p:nvSpPr>
        <p:spPr>
          <a:xfrm>
            <a:off x="836676" y="360954"/>
            <a:ext cx="10515600" cy="1325563"/>
          </a:xfrm>
        </p:spPr>
        <p:txBody>
          <a:bodyPr>
            <a:normAutofit/>
          </a:bodyPr>
          <a:lstStyle/>
          <a:p>
            <a:r>
              <a:rPr lang="en-US" b="1" dirty="0"/>
              <a:t>Sale Price vs Income in Metro Nashville</a:t>
            </a:r>
          </a:p>
        </p:txBody>
      </p:sp>
      <p:sp>
        <p:nvSpPr>
          <p:cNvPr id="19" name="sketch line">
            <a:extLst>
              <a:ext uri="{FF2B5EF4-FFF2-40B4-BE49-F238E27FC236}">
                <a16:creationId xmlns:a16="http://schemas.microsoft.com/office/drawing/2014/main" id="{0A0DC3D1-8C1B-10C4-AFDA-7BA4AB2622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TextBox 20">
            <a:extLst>
              <a:ext uri="{FF2B5EF4-FFF2-40B4-BE49-F238E27FC236}">
                <a16:creationId xmlns:a16="http://schemas.microsoft.com/office/drawing/2014/main" id="{600A8C6F-BFC4-607E-3627-E251A8A378A6}"/>
              </a:ext>
            </a:extLst>
          </p:cNvPr>
          <p:cNvSpPr txBox="1"/>
          <p:nvPr/>
        </p:nvSpPr>
        <p:spPr>
          <a:xfrm>
            <a:off x="1211580" y="1860404"/>
            <a:ext cx="10311384" cy="369332"/>
          </a:xfrm>
          <a:prstGeom prst="rect">
            <a:avLst/>
          </a:prstGeom>
          <a:noFill/>
        </p:spPr>
        <p:txBody>
          <a:bodyPr wrap="square" rtlCol="0">
            <a:spAutoFit/>
          </a:bodyPr>
          <a:lstStyle/>
          <a:p>
            <a:r>
              <a:rPr lang="en-US" dirty="0"/>
              <a:t>Median home prices increased substantially faster than household incomes between 2020 and 2023.</a:t>
            </a:r>
          </a:p>
        </p:txBody>
      </p:sp>
      <p:sp>
        <p:nvSpPr>
          <p:cNvPr id="7" name="TextBox 6">
            <a:extLst>
              <a:ext uri="{FF2B5EF4-FFF2-40B4-BE49-F238E27FC236}">
                <a16:creationId xmlns:a16="http://schemas.microsoft.com/office/drawing/2014/main" id="{F8680954-FCF1-9813-090F-D0E3B62B1BC5}"/>
              </a:ext>
            </a:extLst>
          </p:cNvPr>
          <p:cNvSpPr txBox="1"/>
          <p:nvPr/>
        </p:nvSpPr>
        <p:spPr>
          <a:xfrm>
            <a:off x="70339" y="6569125"/>
            <a:ext cx="4873450" cy="215444"/>
          </a:xfrm>
          <a:prstGeom prst="rect">
            <a:avLst/>
          </a:prstGeom>
          <a:noFill/>
        </p:spPr>
        <p:txBody>
          <a:bodyPr wrap="square" rtlCol="0">
            <a:spAutoFit/>
          </a:bodyPr>
          <a:lstStyle/>
          <a:p>
            <a:r>
              <a:rPr lang="en-US" sz="800" dirty="0"/>
              <a:t>Sources: Metro Nashville Parcel Data, Redfin, U.S. Census ACS, FRED</a:t>
            </a:r>
            <a:endParaRPr lang="en-US" sz="800" i="1" dirty="0"/>
          </a:p>
        </p:txBody>
      </p:sp>
      <p:pic>
        <p:nvPicPr>
          <p:cNvPr id="9" name="Picture 8" descr="A graph of a line&#10;&#10;AI-generated content may be incorrect.">
            <a:extLst>
              <a:ext uri="{FF2B5EF4-FFF2-40B4-BE49-F238E27FC236}">
                <a16:creationId xmlns:a16="http://schemas.microsoft.com/office/drawing/2014/main" id="{6FF178BC-FBD3-AB90-954C-F71B135174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976" y="2420858"/>
            <a:ext cx="9525000" cy="3957145"/>
          </a:xfrm>
          <a:prstGeom prst="rect">
            <a:avLst/>
          </a:prstGeom>
          <a:ln w="28575">
            <a:solidFill>
              <a:schemeClr val="bg2">
                <a:lumMod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987554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92977AFE-D466-5A50-8F6A-F7BAE56E51C7}"/>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7722BA4-4F7D-7C10-6E2B-8C6046A1BF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CD3A3AA-476B-A498-4856-A7F18AA6D853}"/>
              </a:ext>
            </a:extLst>
          </p:cNvPr>
          <p:cNvSpPr>
            <a:spLocks noGrp="1"/>
          </p:cNvSpPr>
          <p:nvPr>
            <p:ph type="title"/>
          </p:nvPr>
        </p:nvSpPr>
        <p:spPr>
          <a:xfrm>
            <a:off x="746871" y="360954"/>
            <a:ext cx="10938933" cy="1325563"/>
          </a:xfrm>
        </p:spPr>
        <p:txBody>
          <a:bodyPr>
            <a:normAutofit/>
          </a:bodyPr>
          <a:lstStyle/>
          <a:p>
            <a:r>
              <a:rPr lang="en-US" b="1" dirty="0"/>
              <a:t>The Price-to-Income Gap in Metro Nashville</a:t>
            </a:r>
          </a:p>
        </p:txBody>
      </p:sp>
      <p:sp>
        <p:nvSpPr>
          <p:cNvPr id="19" name="sketch line">
            <a:extLst>
              <a:ext uri="{FF2B5EF4-FFF2-40B4-BE49-F238E27FC236}">
                <a16:creationId xmlns:a16="http://schemas.microsoft.com/office/drawing/2014/main" id="{6C00AC07-3FE6-CA90-2B30-496FA15542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7C17B134-C5BC-C626-F537-43616E13A7E1}"/>
              </a:ext>
            </a:extLst>
          </p:cNvPr>
          <p:cNvSpPr txBox="1"/>
          <p:nvPr/>
        </p:nvSpPr>
        <p:spPr>
          <a:xfrm>
            <a:off x="6885204" y="3876681"/>
            <a:ext cx="4800600" cy="1754326"/>
          </a:xfrm>
          <a:prstGeom prst="rect">
            <a:avLst/>
          </a:prstGeom>
          <a:noFill/>
        </p:spPr>
        <p:txBody>
          <a:bodyPr wrap="square" rtlCol="0">
            <a:spAutoFit/>
          </a:bodyPr>
          <a:lstStyle/>
          <a:p>
            <a:r>
              <a:rPr lang="en-US" dirty="0"/>
              <a:t>Between 2020 and 2022, median home prices rose faster than incomes, increasing the price-to-income ratio from </a:t>
            </a:r>
            <a:r>
              <a:rPr lang="en-US" b="1" dirty="0"/>
              <a:t>4.3 to 5</a:t>
            </a:r>
            <a:r>
              <a:rPr lang="en-US" dirty="0"/>
              <a:t>. While incomes rose in 2023, affordability remained strained, with the ratio remaining elevated relative to earlier years.</a:t>
            </a:r>
          </a:p>
        </p:txBody>
      </p:sp>
      <p:sp>
        <p:nvSpPr>
          <p:cNvPr id="10" name="TextBox 9">
            <a:extLst>
              <a:ext uri="{FF2B5EF4-FFF2-40B4-BE49-F238E27FC236}">
                <a16:creationId xmlns:a16="http://schemas.microsoft.com/office/drawing/2014/main" id="{0C14E7C4-BD1E-A981-A7EF-4E5642FCA054}"/>
              </a:ext>
            </a:extLst>
          </p:cNvPr>
          <p:cNvSpPr txBox="1"/>
          <p:nvPr/>
        </p:nvSpPr>
        <p:spPr>
          <a:xfrm>
            <a:off x="6497996" y="2601505"/>
            <a:ext cx="2624667" cy="369332"/>
          </a:xfrm>
          <a:prstGeom prst="rect">
            <a:avLst/>
          </a:prstGeom>
          <a:noFill/>
        </p:spPr>
        <p:txBody>
          <a:bodyPr wrap="square" rtlCol="0">
            <a:spAutoFit/>
          </a:bodyPr>
          <a:lstStyle/>
          <a:p>
            <a:r>
              <a:rPr lang="en-US" dirty="0"/>
              <a:t>Price-to-Income Ratio =</a:t>
            </a:r>
          </a:p>
        </p:txBody>
      </p:sp>
      <p:sp>
        <p:nvSpPr>
          <p:cNvPr id="11" name="TextBox 10">
            <a:extLst>
              <a:ext uri="{FF2B5EF4-FFF2-40B4-BE49-F238E27FC236}">
                <a16:creationId xmlns:a16="http://schemas.microsoft.com/office/drawing/2014/main" id="{B14B5E4F-FAE5-273D-4212-BDC05E0394AC}"/>
              </a:ext>
            </a:extLst>
          </p:cNvPr>
          <p:cNvSpPr txBox="1"/>
          <p:nvPr/>
        </p:nvSpPr>
        <p:spPr>
          <a:xfrm>
            <a:off x="9048715" y="2375847"/>
            <a:ext cx="2624668" cy="369332"/>
          </a:xfrm>
          <a:prstGeom prst="rect">
            <a:avLst/>
          </a:prstGeom>
          <a:noFill/>
        </p:spPr>
        <p:txBody>
          <a:bodyPr wrap="square" rtlCol="0">
            <a:spAutoFit/>
          </a:bodyPr>
          <a:lstStyle/>
          <a:p>
            <a:r>
              <a:rPr lang="en-US" dirty="0"/>
              <a:t>Median Home Sale Price</a:t>
            </a:r>
          </a:p>
        </p:txBody>
      </p:sp>
      <p:sp>
        <p:nvSpPr>
          <p:cNvPr id="12" name="TextBox 11">
            <a:extLst>
              <a:ext uri="{FF2B5EF4-FFF2-40B4-BE49-F238E27FC236}">
                <a16:creationId xmlns:a16="http://schemas.microsoft.com/office/drawing/2014/main" id="{106330F7-4175-F54E-5BFC-7E5FDF1409EC}"/>
              </a:ext>
            </a:extLst>
          </p:cNvPr>
          <p:cNvSpPr txBox="1"/>
          <p:nvPr/>
        </p:nvSpPr>
        <p:spPr>
          <a:xfrm>
            <a:off x="8933156" y="2786171"/>
            <a:ext cx="2929734" cy="369332"/>
          </a:xfrm>
          <a:prstGeom prst="rect">
            <a:avLst/>
          </a:prstGeom>
          <a:noFill/>
        </p:spPr>
        <p:txBody>
          <a:bodyPr wrap="square" rtlCol="0">
            <a:spAutoFit/>
          </a:bodyPr>
          <a:lstStyle/>
          <a:p>
            <a:r>
              <a:rPr lang="en-US" dirty="0"/>
              <a:t>Median Household Income</a:t>
            </a:r>
          </a:p>
        </p:txBody>
      </p:sp>
      <p:cxnSp>
        <p:nvCxnSpPr>
          <p:cNvPr id="14" name="Straight Connector 13">
            <a:extLst>
              <a:ext uri="{FF2B5EF4-FFF2-40B4-BE49-F238E27FC236}">
                <a16:creationId xmlns:a16="http://schemas.microsoft.com/office/drawing/2014/main" id="{8B58EA03-6D38-5D8F-C94A-F215E27DE5F9}"/>
              </a:ext>
            </a:extLst>
          </p:cNvPr>
          <p:cNvCxnSpPr>
            <a:cxnSpLocks/>
          </p:cNvCxnSpPr>
          <p:nvPr/>
        </p:nvCxnSpPr>
        <p:spPr>
          <a:xfrm>
            <a:off x="9048715" y="2786171"/>
            <a:ext cx="2474249" cy="0"/>
          </a:xfrm>
          <a:prstGeom prst="line">
            <a:avLst/>
          </a:prstGeom>
        </p:spPr>
        <p:style>
          <a:lnRef idx="2">
            <a:schemeClr val="dk1"/>
          </a:lnRef>
          <a:fillRef idx="0">
            <a:schemeClr val="dk1"/>
          </a:fillRef>
          <a:effectRef idx="1">
            <a:schemeClr val="dk1"/>
          </a:effectRef>
          <a:fontRef idx="minor">
            <a:schemeClr val="tx1"/>
          </a:fontRef>
        </p:style>
      </p:cxnSp>
      <p:sp>
        <p:nvSpPr>
          <p:cNvPr id="5" name="TextBox 4">
            <a:extLst>
              <a:ext uri="{FF2B5EF4-FFF2-40B4-BE49-F238E27FC236}">
                <a16:creationId xmlns:a16="http://schemas.microsoft.com/office/drawing/2014/main" id="{02DDFBE0-D271-E4EC-47A5-AABCE4FE7865}"/>
              </a:ext>
            </a:extLst>
          </p:cNvPr>
          <p:cNvSpPr txBox="1"/>
          <p:nvPr/>
        </p:nvSpPr>
        <p:spPr>
          <a:xfrm>
            <a:off x="70339" y="6569125"/>
            <a:ext cx="4873450" cy="215444"/>
          </a:xfrm>
          <a:prstGeom prst="rect">
            <a:avLst/>
          </a:prstGeom>
          <a:noFill/>
        </p:spPr>
        <p:txBody>
          <a:bodyPr wrap="square" rtlCol="0">
            <a:spAutoFit/>
          </a:bodyPr>
          <a:lstStyle/>
          <a:p>
            <a:r>
              <a:rPr lang="en-US" sz="800" dirty="0"/>
              <a:t>Sources: Metro Nashville Parcel Data, Redfin, U.S. Census ACS, FRED</a:t>
            </a:r>
            <a:endParaRPr lang="en-US" sz="800" i="1" dirty="0"/>
          </a:p>
        </p:txBody>
      </p:sp>
      <p:pic>
        <p:nvPicPr>
          <p:cNvPr id="9" name="Picture 8" descr="A graph showing the price of income&#10;&#10;AI-generated content may be incorrect.">
            <a:extLst>
              <a:ext uri="{FF2B5EF4-FFF2-40B4-BE49-F238E27FC236}">
                <a16:creationId xmlns:a16="http://schemas.microsoft.com/office/drawing/2014/main" id="{5C497C67-C0A9-CB4E-1F9E-3062ED8BA5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246" y="2161403"/>
            <a:ext cx="5744921" cy="3757792"/>
          </a:xfrm>
          <a:prstGeom prst="rect">
            <a:avLst/>
          </a:prstGeom>
          <a:ln w="28575">
            <a:solidFill>
              <a:schemeClr val="bg2">
                <a:lumMod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767592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0F5E8FF1-0B7C-B260-49EB-B6D21E94B6FB}"/>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7E7921F-E1EA-18E5-9334-1677A4D20D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F5C7DD5-93F4-87B9-7BE2-CF7C4DD653E2}"/>
              </a:ext>
            </a:extLst>
          </p:cNvPr>
          <p:cNvSpPr>
            <a:spLocks noGrp="1"/>
          </p:cNvSpPr>
          <p:nvPr>
            <p:ph type="title"/>
          </p:nvPr>
        </p:nvSpPr>
        <p:spPr>
          <a:xfrm>
            <a:off x="838200" y="365125"/>
            <a:ext cx="10515600" cy="1325563"/>
          </a:xfrm>
        </p:spPr>
        <p:txBody>
          <a:bodyPr>
            <a:normAutofit/>
          </a:bodyPr>
          <a:lstStyle/>
          <a:p>
            <a:r>
              <a:rPr lang="en-US" b="1" dirty="0"/>
              <a:t>Housing Supply Trends</a:t>
            </a:r>
          </a:p>
        </p:txBody>
      </p:sp>
      <p:sp>
        <p:nvSpPr>
          <p:cNvPr id="19" name="sketch line">
            <a:extLst>
              <a:ext uri="{FF2B5EF4-FFF2-40B4-BE49-F238E27FC236}">
                <a16:creationId xmlns:a16="http://schemas.microsoft.com/office/drawing/2014/main" id="{1D4651A1-DDB8-CDAF-EA48-546286D4DC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TextBox 7">
            <a:extLst>
              <a:ext uri="{FF2B5EF4-FFF2-40B4-BE49-F238E27FC236}">
                <a16:creationId xmlns:a16="http://schemas.microsoft.com/office/drawing/2014/main" id="{9D29D358-04B9-5357-361B-0994D1A9FA6E}"/>
              </a:ext>
            </a:extLst>
          </p:cNvPr>
          <p:cNvSpPr txBox="1"/>
          <p:nvPr/>
        </p:nvSpPr>
        <p:spPr>
          <a:xfrm>
            <a:off x="7425732" y="3075503"/>
            <a:ext cx="4258268" cy="2308324"/>
          </a:xfrm>
          <a:prstGeom prst="rect">
            <a:avLst/>
          </a:prstGeom>
          <a:noFill/>
        </p:spPr>
        <p:txBody>
          <a:bodyPr wrap="square" rtlCol="0">
            <a:spAutoFit/>
          </a:bodyPr>
          <a:lstStyle/>
          <a:p>
            <a:r>
              <a:rPr lang="en-US" dirty="0"/>
              <a:t>Housing market conditions tightened in 2021 as inventory declined and sales activity remained elevated. Even as inventory partially recovered after 2021, higher prices and rising mortgage rates reduced sales activity, contributing to continued price pressure and affordability challenges.</a:t>
            </a:r>
          </a:p>
        </p:txBody>
      </p:sp>
      <p:sp>
        <p:nvSpPr>
          <p:cNvPr id="5" name="TextBox 4">
            <a:extLst>
              <a:ext uri="{FF2B5EF4-FFF2-40B4-BE49-F238E27FC236}">
                <a16:creationId xmlns:a16="http://schemas.microsoft.com/office/drawing/2014/main" id="{47234CCC-923A-7AC6-E216-680BA1BD92B6}"/>
              </a:ext>
            </a:extLst>
          </p:cNvPr>
          <p:cNvSpPr txBox="1"/>
          <p:nvPr/>
        </p:nvSpPr>
        <p:spPr>
          <a:xfrm>
            <a:off x="70339" y="6569125"/>
            <a:ext cx="4873450" cy="215444"/>
          </a:xfrm>
          <a:prstGeom prst="rect">
            <a:avLst/>
          </a:prstGeom>
          <a:noFill/>
        </p:spPr>
        <p:txBody>
          <a:bodyPr wrap="square" rtlCol="0">
            <a:spAutoFit/>
          </a:bodyPr>
          <a:lstStyle/>
          <a:p>
            <a:r>
              <a:rPr lang="en-US" sz="800" dirty="0"/>
              <a:t>Sources: Metro Nashville Parcel Data, Redfin, U.S. Census ACS, FRED</a:t>
            </a:r>
            <a:endParaRPr lang="en-US" sz="800" i="1" dirty="0"/>
          </a:p>
        </p:txBody>
      </p:sp>
      <p:pic>
        <p:nvPicPr>
          <p:cNvPr id="9" name="Picture 8" descr="A graph showing the average by year&#10;&#10;AI-generated content may be incorrect.">
            <a:extLst>
              <a:ext uri="{FF2B5EF4-FFF2-40B4-BE49-F238E27FC236}">
                <a16:creationId xmlns:a16="http://schemas.microsoft.com/office/drawing/2014/main" id="{447BF319-110E-8C7E-255E-0BF26EF164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036" y="2055813"/>
            <a:ext cx="6251744" cy="4070672"/>
          </a:xfrm>
          <a:prstGeom prst="rect">
            <a:avLst/>
          </a:prstGeom>
          <a:ln w="28575">
            <a:solidFill>
              <a:schemeClr val="bg2">
                <a:lumMod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267194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1D0F607B-AF95-8825-CD41-507AFF4CE37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F1FAD6C-F451-7E57-E4AE-A50CE06C8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1F9CD1A-A750-7D78-ECE6-CEB7E83AE85A}"/>
              </a:ext>
            </a:extLst>
          </p:cNvPr>
          <p:cNvSpPr>
            <a:spLocks noGrp="1"/>
          </p:cNvSpPr>
          <p:nvPr>
            <p:ph type="title"/>
          </p:nvPr>
        </p:nvSpPr>
        <p:spPr>
          <a:xfrm>
            <a:off x="838200" y="365125"/>
            <a:ext cx="10515600" cy="1325563"/>
          </a:xfrm>
        </p:spPr>
        <p:txBody>
          <a:bodyPr>
            <a:normAutofit/>
          </a:bodyPr>
          <a:lstStyle/>
          <a:p>
            <a:r>
              <a:rPr lang="en-US" sz="3600" b="1" dirty="0"/>
              <a:t>Rising Mortgage Rates Increased Borrowing Costs</a:t>
            </a:r>
          </a:p>
        </p:txBody>
      </p:sp>
      <p:sp>
        <p:nvSpPr>
          <p:cNvPr id="19" name="sketch line">
            <a:extLst>
              <a:ext uri="{FF2B5EF4-FFF2-40B4-BE49-F238E27FC236}">
                <a16:creationId xmlns:a16="http://schemas.microsoft.com/office/drawing/2014/main" id="{43906963-7694-25CF-7143-F379841788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44BA4203-4B1F-29D4-9B45-1F495A7BBED2}"/>
              </a:ext>
            </a:extLst>
          </p:cNvPr>
          <p:cNvSpPr txBox="1"/>
          <p:nvPr/>
        </p:nvSpPr>
        <p:spPr>
          <a:xfrm>
            <a:off x="7449038" y="3278182"/>
            <a:ext cx="4224866" cy="1477328"/>
          </a:xfrm>
          <a:prstGeom prst="rect">
            <a:avLst/>
          </a:prstGeom>
          <a:noFill/>
        </p:spPr>
        <p:txBody>
          <a:bodyPr wrap="square" rtlCol="0">
            <a:spAutoFit/>
          </a:bodyPr>
          <a:lstStyle/>
          <a:p>
            <a:r>
              <a:rPr lang="en-US" dirty="0"/>
              <a:t>Mortgage interest rates remained historically low in 2020–2021, but rose sharply beginning in 2022, increasing monthly mortgage payments and the cost of financing a home purchase.</a:t>
            </a:r>
          </a:p>
        </p:txBody>
      </p:sp>
      <p:sp>
        <p:nvSpPr>
          <p:cNvPr id="7" name="TextBox 6">
            <a:extLst>
              <a:ext uri="{FF2B5EF4-FFF2-40B4-BE49-F238E27FC236}">
                <a16:creationId xmlns:a16="http://schemas.microsoft.com/office/drawing/2014/main" id="{CD2A6343-3F32-E1BA-2F4E-58ECF4E926AE}"/>
              </a:ext>
            </a:extLst>
          </p:cNvPr>
          <p:cNvSpPr txBox="1"/>
          <p:nvPr/>
        </p:nvSpPr>
        <p:spPr>
          <a:xfrm>
            <a:off x="162437" y="6559179"/>
            <a:ext cx="4873450" cy="215444"/>
          </a:xfrm>
          <a:prstGeom prst="rect">
            <a:avLst/>
          </a:prstGeom>
          <a:noFill/>
        </p:spPr>
        <p:txBody>
          <a:bodyPr wrap="square" rtlCol="0">
            <a:spAutoFit/>
          </a:bodyPr>
          <a:lstStyle/>
          <a:p>
            <a:r>
              <a:rPr lang="en-US" sz="800" dirty="0"/>
              <a:t>Sources: Metro Nashville Parcel Data, Redfin, U.S. Census ACS, FRED</a:t>
            </a:r>
            <a:endParaRPr lang="en-US" sz="800" i="1" dirty="0"/>
          </a:p>
        </p:txBody>
      </p:sp>
      <p:pic>
        <p:nvPicPr>
          <p:cNvPr id="9" name="Picture 8" descr="A graph showing a line going up&#10;&#10;AI-generated content may be incorrect.">
            <a:extLst>
              <a:ext uri="{FF2B5EF4-FFF2-40B4-BE49-F238E27FC236}">
                <a16:creationId xmlns:a16="http://schemas.microsoft.com/office/drawing/2014/main" id="{720FA8DA-5597-C22F-4496-52547033AA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036" y="2076709"/>
            <a:ext cx="6481704" cy="4101422"/>
          </a:xfrm>
          <a:prstGeom prst="rect">
            <a:avLst/>
          </a:prstGeom>
          <a:ln w="28575">
            <a:solidFill>
              <a:schemeClr val="bg2">
                <a:lumMod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664452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40DA99AC-C2E7-4667-DC96-8F2421398D8C}"/>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6D7046A-681E-9BE6-361F-2C6D58E713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3F3FCB4-8A99-77D8-DB09-84A061141F35}"/>
              </a:ext>
            </a:extLst>
          </p:cNvPr>
          <p:cNvSpPr>
            <a:spLocks noGrp="1"/>
          </p:cNvSpPr>
          <p:nvPr>
            <p:ph type="title"/>
          </p:nvPr>
        </p:nvSpPr>
        <p:spPr>
          <a:xfrm>
            <a:off x="838200" y="365125"/>
            <a:ext cx="11353800" cy="1325563"/>
          </a:xfrm>
        </p:spPr>
        <p:txBody>
          <a:bodyPr>
            <a:normAutofit/>
          </a:bodyPr>
          <a:lstStyle/>
          <a:p>
            <a:r>
              <a:rPr lang="en-US" sz="3200" b="1" dirty="0"/>
              <a:t>Higher Mortgage Rates Reduced Homeownership Affordability</a:t>
            </a:r>
          </a:p>
        </p:txBody>
      </p:sp>
      <p:sp>
        <p:nvSpPr>
          <p:cNvPr id="19" name="sketch line">
            <a:extLst>
              <a:ext uri="{FF2B5EF4-FFF2-40B4-BE49-F238E27FC236}">
                <a16:creationId xmlns:a16="http://schemas.microsoft.com/office/drawing/2014/main" id="{31D6C79A-ED1C-995F-7F10-D47BF78B50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7F57997F-3107-1310-A949-2FE70FD3D3B0}"/>
              </a:ext>
            </a:extLst>
          </p:cNvPr>
          <p:cNvSpPr txBox="1"/>
          <p:nvPr/>
        </p:nvSpPr>
        <p:spPr>
          <a:xfrm>
            <a:off x="7079318" y="3002936"/>
            <a:ext cx="4809067" cy="2031325"/>
          </a:xfrm>
          <a:prstGeom prst="rect">
            <a:avLst/>
          </a:prstGeom>
          <a:noFill/>
        </p:spPr>
        <p:txBody>
          <a:bodyPr wrap="square" rtlCol="0">
            <a:spAutoFit/>
          </a:bodyPr>
          <a:lstStyle/>
          <a:p>
            <a:r>
              <a:rPr lang="en-US" dirty="0"/>
              <a:t>As mortgage rates increased, the share of median household income required for mortgage payments increased. By 2023, typical housing costs exceeded the 30% affordability threshold, reducing affordability for many median-income households under standard housing cost thresholds.</a:t>
            </a:r>
          </a:p>
        </p:txBody>
      </p:sp>
      <p:sp>
        <p:nvSpPr>
          <p:cNvPr id="7" name="TextBox 6">
            <a:extLst>
              <a:ext uri="{FF2B5EF4-FFF2-40B4-BE49-F238E27FC236}">
                <a16:creationId xmlns:a16="http://schemas.microsoft.com/office/drawing/2014/main" id="{A004F379-19A0-C0B8-020A-433A7D73BA73}"/>
              </a:ext>
            </a:extLst>
          </p:cNvPr>
          <p:cNvSpPr txBox="1"/>
          <p:nvPr/>
        </p:nvSpPr>
        <p:spPr>
          <a:xfrm>
            <a:off x="247956" y="6537321"/>
            <a:ext cx="4873450" cy="215444"/>
          </a:xfrm>
          <a:prstGeom prst="rect">
            <a:avLst/>
          </a:prstGeom>
          <a:noFill/>
        </p:spPr>
        <p:txBody>
          <a:bodyPr wrap="square" rtlCol="0">
            <a:spAutoFit/>
          </a:bodyPr>
          <a:lstStyle/>
          <a:p>
            <a:r>
              <a:rPr lang="en-US" sz="800" dirty="0"/>
              <a:t>Sources: Metro Nashville Parcel Data, Redfin, U.S. Census ACS, FRED</a:t>
            </a:r>
            <a:endParaRPr lang="en-US" sz="800" i="1" dirty="0"/>
          </a:p>
        </p:txBody>
      </p:sp>
      <p:pic>
        <p:nvPicPr>
          <p:cNvPr id="9" name="Picture 8" descr="A graph showing the growth of a number of income&#10;&#10;AI-generated content may be incorrect.">
            <a:extLst>
              <a:ext uri="{FF2B5EF4-FFF2-40B4-BE49-F238E27FC236}">
                <a16:creationId xmlns:a16="http://schemas.microsoft.com/office/drawing/2014/main" id="{8F6C37E4-8365-E571-734E-2F260AAEE8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036" y="2102612"/>
            <a:ext cx="5988322" cy="4087873"/>
          </a:xfrm>
          <a:prstGeom prst="rect">
            <a:avLst/>
          </a:prstGeom>
          <a:ln w="28575">
            <a:solidFill>
              <a:schemeClr val="bg2">
                <a:lumMod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7693018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FD8C34E1-C983-D72E-F0DD-FA8F7A58E416}"/>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5BB166D-188A-9749-E129-4A9CF08B3D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13892BC-B838-0EBB-9CE6-B92041741EEF}"/>
              </a:ext>
            </a:extLst>
          </p:cNvPr>
          <p:cNvSpPr>
            <a:spLocks noGrp="1"/>
          </p:cNvSpPr>
          <p:nvPr>
            <p:ph type="title"/>
          </p:nvPr>
        </p:nvSpPr>
        <p:spPr>
          <a:xfrm>
            <a:off x="838200" y="365125"/>
            <a:ext cx="10515600" cy="1325563"/>
          </a:xfrm>
        </p:spPr>
        <p:txBody>
          <a:bodyPr>
            <a:normAutofit/>
          </a:bodyPr>
          <a:lstStyle/>
          <a:p>
            <a:r>
              <a:rPr lang="en-US" sz="3200" b="1" dirty="0"/>
              <a:t>Affordability Pressures Varied Widely Across ZIP Codes</a:t>
            </a:r>
          </a:p>
        </p:txBody>
      </p:sp>
      <p:sp>
        <p:nvSpPr>
          <p:cNvPr id="19" name="sketch line">
            <a:extLst>
              <a:ext uri="{FF2B5EF4-FFF2-40B4-BE49-F238E27FC236}">
                <a16:creationId xmlns:a16="http://schemas.microsoft.com/office/drawing/2014/main" id="{E4A2A22C-7C26-0D10-5FAD-F56E81242C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 name="TextBox 4">
            <a:extLst>
              <a:ext uri="{FF2B5EF4-FFF2-40B4-BE49-F238E27FC236}">
                <a16:creationId xmlns:a16="http://schemas.microsoft.com/office/drawing/2014/main" id="{FD65859E-3885-553F-D101-4DA042CB4B7F}"/>
              </a:ext>
            </a:extLst>
          </p:cNvPr>
          <p:cNvSpPr txBox="1"/>
          <p:nvPr/>
        </p:nvSpPr>
        <p:spPr>
          <a:xfrm>
            <a:off x="7329555" y="2836833"/>
            <a:ext cx="4292600" cy="2585323"/>
          </a:xfrm>
          <a:prstGeom prst="rect">
            <a:avLst/>
          </a:prstGeom>
          <a:noFill/>
        </p:spPr>
        <p:txBody>
          <a:bodyPr wrap="square" rtlCol="0">
            <a:spAutoFit/>
          </a:bodyPr>
          <a:lstStyle/>
          <a:p>
            <a:r>
              <a:rPr lang="en-US" dirty="0"/>
              <a:t>Housing affordability changes were not evenly distributed across Metro Nashville. Between 2020 and 2023, several ZIP codes experienced significantly larger increases in price-to-income ratios, indicating more rapid increases in affordability pressure compared to other ZIP codes.</a:t>
            </a:r>
          </a:p>
          <a:p>
            <a:endParaRPr lang="en-US" dirty="0"/>
          </a:p>
        </p:txBody>
      </p:sp>
      <p:sp>
        <p:nvSpPr>
          <p:cNvPr id="7" name="TextBox 6">
            <a:extLst>
              <a:ext uri="{FF2B5EF4-FFF2-40B4-BE49-F238E27FC236}">
                <a16:creationId xmlns:a16="http://schemas.microsoft.com/office/drawing/2014/main" id="{AAB38F1D-65AE-4A13-42AF-46651D5EDEFA}"/>
              </a:ext>
            </a:extLst>
          </p:cNvPr>
          <p:cNvSpPr txBox="1"/>
          <p:nvPr/>
        </p:nvSpPr>
        <p:spPr>
          <a:xfrm>
            <a:off x="70339" y="6569125"/>
            <a:ext cx="4873450" cy="215444"/>
          </a:xfrm>
          <a:prstGeom prst="rect">
            <a:avLst/>
          </a:prstGeom>
          <a:noFill/>
        </p:spPr>
        <p:txBody>
          <a:bodyPr wrap="square" rtlCol="0">
            <a:spAutoFit/>
          </a:bodyPr>
          <a:lstStyle/>
          <a:p>
            <a:r>
              <a:rPr lang="en-US" sz="800" dirty="0"/>
              <a:t>Sources: Metro Nashville Parcel Data, Redfin, U.S. Census ACS, FRED</a:t>
            </a:r>
            <a:endParaRPr lang="en-US" sz="800" i="1" dirty="0"/>
          </a:p>
        </p:txBody>
      </p:sp>
      <p:pic>
        <p:nvPicPr>
          <p:cNvPr id="9" name="Picture 8" descr="A graph of blue rectangular bars&#10;&#10;AI-generated content may be incorrect.">
            <a:extLst>
              <a:ext uri="{FF2B5EF4-FFF2-40B4-BE49-F238E27FC236}">
                <a16:creationId xmlns:a16="http://schemas.microsoft.com/office/drawing/2014/main" id="{8A92313F-2E06-5EDA-827C-5B06A85D56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036" y="2055813"/>
            <a:ext cx="6330400" cy="4147364"/>
          </a:xfrm>
          <a:prstGeom prst="rect">
            <a:avLst/>
          </a:prstGeom>
          <a:ln w="28575">
            <a:solidFill>
              <a:schemeClr val="bg2">
                <a:lumMod val="25000"/>
              </a:schemeClr>
            </a:solid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684625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969FF664-8693-681C-36CA-9B24FCEE2D64}"/>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F220A47-9D43-9A86-2309-7BF2E0F090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0872236-0092-44E2-42F3-D0FFBC7801D7}"/>
              </a:ext>
            </a:extLst>
          </p:cNvPr>
          <p:cNvSpPr>
            <a:spLocks noGrp="1"/>
          </p:cNvSpPr>
          <p:nvPr>
            <p:ph type="title"/>
          </p:nvPr>
        </p:nvSpPr>
        <p:spPr>
          <a:xfrm>
            <a:off x="838200" y="365125"/>
            <a:ext cx="10515600" cy="1325563"/>
          </a:xfrm>
        </p:spPr>
        <p:txBody>
          <a:bodyPr>
            <a:normAutofit/>
          </a:bodyPr>
          <a:lstStyle/>
          <a:p>
            <a:r>
              <a:rPr lang="en-US" b="1" dirty="0"/>
              <a:t>Key Findings</a:t>
            </a:r>
          </a:p>
        </p:txBody>
      </p:sp>
      <p:sp>
        <p:nvSpPr>
          <p:cNvPr id="19" name="sketch line">
            <a:extLst>
              <a:ext uri="{FF2B5EF4-FFF2-40B4-BE49-F238E27FC236}">
                <a16:creationId xmlns:a16="http://schemas.microsoft.com/office/drawing/2014/main" id="{8D71E955-3FD8-418D-38DF-AC095F32E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 name="TextBox 5">
            <a:extLst>
              <a:ext uri="{FF2B5EF4-FFF2-40B4-BE49-F238E27FC236}">
                <a16:creationId xmlns:a16="http://schemas.microsoft.com/office/drawing/2014/main" id="{B003664B-4843-8B17-5A4C-50D54A7CADC5}"/>
              </a:ext>
            </a:extLst>
          </p:cNvPr>
          <p:cNvSpPr txBox="1"/>
          <p:nvPr/>
        </p:nvSpPr>
        <p:spPr>
          <a:xfrm>
            <a:off x="838200" y="1895056"/>
            <a:ext cx="9745134" cy="4770537"/>
          </a:xfrm>
          <a:prstGeom prst="rect">
            <a:avLst/>
          </a:prstGeom>
          <a:noFill/>
        </p:spPr>
        <p:txBody>
          <a:bodyPr wrap="square" rtlCol="0">
            <a:spAutoFit/>
          </a:bodyPr>
          <a:lstStyle/>
          <a:p>
            <a:pPr marL="285750" indent="-285750">
              <a:buFont typeface="Arial" panose="020B0604020202020204" pitchFamily="34" charset="0"/>
              <a:buChar char="•"/>
            </a:pPr>
            <a:r>
              <a:rPr lang="en-US" sz="1600" dirty="0"/>
              <a:t>Home Prices Outpaced Income Growth</a:t>
            </a:r>
          </a:p>
          <a:p>
            <a:pPr marL="742950" lvl="1" indent="-285750">
              <a:buFont typeface="Arial" panose="020B0604020202020204" pitchFamily="34" charset="0"/>
              <a:buChar char="•"/>
            </a:pPr>
            <a:r>
              <a:rPr lang="en-US" sz="1600" dirty="0"/>
              <a:t>Median home sale prices in Metro Nashville rose </a:t>
            </a:r>
            <a:r>
              <a:rPr lang="en-US" sz="1600" b="1" dirty="0"/>
              <a:t>37% between 2020 and 2023</a:t>
            </a:r>
            <a:r>
              <a:rPr lang="en-US" sz="1600" dirty="0"/>
              <a:t>, while median household income increased by only </a:t>
            </a:r>
            <a:r>
              <a:rPr lang="en-US" sz="1600" b="1" dirty="0"/>
              <a:t>20%</a:t>
            </a:r>
            <a:r>
              <a:rPr lang="en-US" sz="1600" dirty="0"/>
              <a:t>.</a:t>
            </a:r>
          </a:p>
          <a:p>
            <a:pPr marL="742950" lvl="1" indent="-285750">
              <a:buFont typeface="Arial" panose="020B0604020202020204" pitchFamily="34" charset="0"/>
              <a:buChar char="•"/>
            </a:pPr>
            <a:r>
              <a:rPr lang="en-US" sz="1600" dirty="0"/>
              <a:t>This widening gap reduced affordability for median-income households.</a:t>
            </a:r>
          </a:p>
          <a:p>
            <a:pPr marL="285750" indent="-285750">
              <a:buFont typeface="Arial" panose="020B0604020202020204" pitchFamily="34" charset="0"/>
              <a:buChar char="•"/>
            </a:pPr>
            <a:r>
              <a:rPr lang="en-US" sz="1600" dirty="0"/>
              <a:t>Affordability Declined Despite Income Gains</a:t>
            </a:r>
          </a:p>
          <a:p>
            <a:pPr marL="742950" lvl="1" indent="-285750">
              <a:buFont typeface="Arial" panose="020B0604020202020204" pitchFamily="34" charset="0"/>
              <a:buChar char="•"/>
            </a:pPr>
            <a:r>
              <a:rPr lang="en-US" sz="1600" dirty="0"/>
              <a:t>The price-to-income ratio increased from </a:t>
            </a:r>
            <a:r>
              <a:rPr lang="en-US" sz="1600" b="1" dirty="0"/>
              <a:t>4.3% in 2020 to a peak of 5% in 2022</a:t>
            </a:r>
            <a:r>
              <a:rPr lang="en-US" sz="1600" dirty="0"/>
              <a:t>, remaining elevated in 2023.</a:t>
            </a:r>
          </a:p>
          <a:p>
            <a:pPr marL="742950" lvl="1" indent="-285750">
              <a:buFont typeface="Arial" panose="020B0604020202020204" pitchFamily="34" charset="0"/>
              <a:buChar char="•"/>
            </a:pPr>
            <a:r>
              <a:rPr lang="en-US" sz="1600" dirty="0"/>
              <a:t>Higher home prices required households to devote a larger share of income to housing.</a:t>
            </a:r>
          </a:p>
          <a:p>
            <a:pPr marL="285750" indent="-285750">
              <a:buFont typeface="Arial" panose="020B0604020202020204" pitchFamily="34" charset="0"/>
              <a:buChar char="•"/>
            </a:pPr>
            <a:r>
              <a:rPr lang="en-US" sz="1600" dirty="0"/>
              <a:t>Rising Mortgage Rates Drove Affordability Losses</a:t>
            </a:r>
          </a:p>
          <a:p>
            <a:pPr marL="742950" lvl="1" indent="-285750">
              <a:buFont typeface="Arial" panose="020B0604020202020204" pitchFamily="34" charset="0"/>
              <a:buChar char="•"/>
            </a:pPr>
            <a:r>
              <a:rPr lang="en-US" sz="1600" dirty="0"/>
              <a:t>30-year fixed mortgage rates rose sharply after 2021, exceeding </a:t>
            </a:r>
            <a:r>
              <a:rPr lang="en-US" sz="1600" b="1" dirty="0"/>
              <a:t>6% by 2023</a:t>
            </a:r>
            <a:r>
              <a:rPr lang="en-US" sz="1600" dirty="0"/>
              <a:t>.</a:t>
            </a:r>
          </a:p>
          <a:p>
            <a:pPr marL="742950" lvl="1" indent="-285750">
              <a:buFont typeface="Arial" panose="020B0604020202020204" pitchFamily="34" charset="0"/>
              <a:buChar char="•"/>
            </a:pPr>
            <a:r>
              <a:rPr lang="en-US" sz="1600" dirty="0"/>
              <a:t>Mortgage payments increased from </a:t>
            </a:r>
            <a:r>
              <a:rPr lang="en-US" sz="1600" b="1" dirty="0"/>
              <a:t>19% to over 30% of median income</a:t>
            </a:r>
            <a:r>
              <a:rPr lang="en-US" sz="1600" dirty="0"/>
              <a:t>, surpassing standard affordability thresholds.</a:t>
            </a:r>
          </a:p>
          <a:p>
            <a:pPr marL="285750" indent="-285750">
              <a:buFont typeface="Arial" panose="020B0604020202020204" pitchFamily="34" charset="0"/>
              <a:buChar char="•"/>
            </a:pPr>
            <a:r>
              <a:rPr lang="en-US" sz="1600" dirty="0"/>
              <a:t>Housing Supply Remained Constrained</a:t>
            </a:r>
          </a:p>
          <a:p>
            <a:pPr marL="742950" lvl="1" indent="-285750">
              <a:buFont typeface="Arial" panose="020B0604020202020204" pitchFamily="34" charset="0"/>
              <a:buChar char="•"/>
            </a:pPr>
            <a:r>
              <a:rPr lang="en-US" sz="1600" dirty="0"/>
              <a:t>Inventory fell in 2021 and only partially recovered by 2023.</a:t>
            </a:r>
          </a:p>
          <a:p>
            <a:pPr marL="742950" lvl="1" indent="-285750">
              <a:buFont typeface="Arial" panose="020B0604020202020204" pitchFamily="34" charset="0"/>
              <a:buChar char="•"/>
            </a:pPr>
            <a:r>
              <a:rPr lang="en-US" sz="1600" dirty="0"/>
              <a:t>As affordability worsened, home sales declined even as prices remained high.</a:t>
            </a:r>
          </a:p>
          <a:p>
            <a:pPr marL="285750" indent="-285750">
              <a:buFont typeface="Arial" panose="020B0604020202020204" pitchFamily="34" charset="0"/>
              <a:buChar char="•"/>
            </a:pPr>
            <a:r>
              <a:rPr lang="en-US" sz="1600" dirty="0"/>
              <a:t>Affordability Impacts Varied by ZIP Code</a:t>
            </a:r>
          </a:p>
          <a:p>
            <a:pPr marL="742950" lvl="1" indent="-285750">
              <a:buFont typeface="Arial" panose="020B0604020202020204" pitchFamily="34" charset="0"/>
              <a:buChar char="•"/>
            </a:pPr>
            <a:r>
              <a:rPr lang="en-US" sz="1600" dirty="0"/>
              <a:t>Changes in affordability were </a:t>
            </a:r>
            <a:r>
              <a:rPr lang="en-US" sz="1600" b="1" dirty="0"/>
              <a:t>not evenly distributed</a:t>
            </a:r>
            <a:r>
              <a:rPr lang="en-US" sz="1600" dirty="0"/>
              <a:t> across Metro Nashville.</a:t>
            </a:r>
          </a:p>
          <a:p>
            <a:pPr marL="742950" lvl="1" indent="-285750">
              <a:buFont typeface="Arial" panose="020B0604020202020204" pitchFamily="34" charset="0"/>
              <a:buChar char="•"/>
            </a:pPr>
            <a:r>
              <a:rPr lang="en-US" sz="1600" dirty="0"/>
              <a:t>Several ZIP codes experienced </a:t>
            </a:r>
            <a:r>
              <a:rPr lang="en-US" sz="1600" b="1" dirty="0"/>
              <a:t>substantially larger increases</a:t>
            </a:r>
            <a:r>
              <a:rPr lang="en-US" sz="1600" dirty="0"/>
              <a:t> in affordability pressure than the metro average.</a:t>
            </a:r>
          </a:p>
        </p:txBody>
      </p:sp>
    </p:spTree>
    <p:extLst>
      <p:ext uri="{BB962C8B-B14F-4D97-AF65-F5344CB8AC3E}">
        <p14:creationId xmlns:p14="http://schemas.microsoft.com/office/powerpoint/2010/main" val="2071100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533B1B37-3CEC-4929-8B05-514A33B4645D}"/>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67627AB5-121B-2E44-2C36-5DCB8D5647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321E8CED-2FC4-4AB1-9316-5EC71D806FF8}"/>
              </a:ext>
            </a:extLst>
          </p:cNvPr>
          <p:cNvSpPr>
            <a:spLocks noGrp="1"/>
          </p:cNvSpPr>
          <p:nvPr>
            <p:ph type="title"/>
          </p:nvPr>
        </p:nvSpPr>
        <p:spPr>
          <a:xfrm>
            <a:off x="838200" y="365125"/>
            <a:ext cx="10515600" cy="1325563"/>
          </a:xfrm>
        </p:spPr>
        <p:txBody>
          <a:bodyPr>
            <a:normAutofit/>
          </a:bodyPr>
          <a:lstStyle/>
          <a:p>
            <a:r>
              <a:rPr lang="en-US" b="1" dirty="0"/>
              <a:t>Limitations &amp; Next Steps</a:t>
            </a:r>
          </a:p>
        </p:txBody>
      </p:sp>
      <p:sp>
        <p:nvSpPr>
          <p:cNvPr id="19" name="sketch line">
            <a:extLst>
              <a:ext uri="{FF2B5EF4-FFF2-40B4-BE49-F238E27FC236}">
                <a16:creationId xmlns:a16="http://schemas.microsoft.com/office/drawing/2014/main" id="{09A60E60-03C5-2C94-4D54-2B5D03595A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85D7D54C-61CE-1353-4D47-22F7C28900B4}"/>
              </a:ext>
            </a:extLst>
          </p:cNvPr>
          <p:cNvSpPr txBox="1"/>
          <p:nvPr/>
        </p:nvSpPr>
        <p:spPr>
          <a:xfrm>
            <a:off x="1007533" y="2240532"/>
            <a:ext cx="9677400" cy="2031325"/>
          </a:xfrm>
          <a:prstGeom prst="rect">
            <a:avLst/>
          </a:prstGeom>
          <a:noFill/>
        </p:spPr>
        <p:txBody>
          <a:bodyPr wrap="square" rtlCol="0">
            <a:spAutoFit/>
          </a:bodyPr>
          <a:lstStyle/>
          <a:p>
            <a:pPr marL="285750" indent="-285750">
              <a:buFont typeface="Arial" panose="020B0604020202020204" pitchFamily="34" charset="0"/>
              <a:buChar char="•"/>
            </a:pPr>
            <a:r>
              <a:rPr lang="en-US" dirty="0"/>
              <a:t>Metro Nashville ZIP code boundaries vary across data sources, creating challenges in defining a consistent study area.</a:t>
            </a:r>
          </a:p>
          <a:p>
            <a:endParaRPr lang="en-US" dirty="0"/>
          </a:p>
          <a:p>
            <a:pPr marL="285750" indent="-285750">
              <a:buFont typeface="Arial" panose="020B0604020202020204" pitchFamily="34" charset="0"/>
              <a:buChar char="•"/>
            </a:pPr>
            <a:r>
              <a:rPr lang="en-US" dirty="0"/>
              <a:t>ZIP code level income data limited the analysis to 2020–2023.</a:t>
            </a:r>
          </a:p>
          <a:p>
            <a:endParaRPr lang="en-US" dirty="0"/>
          </a:p>
          <a:p>
            <a:pPr marL="285750" indent="-285750">
              <a:buFont typeface="Arial" panose="020B0604020202020204" pitchFamily="34" charset="0"/>
              <a:buChar char="•"/>
            </a:pPr>
            <a:r>
              <a:rPr lang="en-US" dirty="0"/>
              <a:t>Future research could extend this work over a longer time horizon and explore alternative geographic units to deepen insight into long-term affordability trends.</a:t>
            </a:r>
          </a:p>
        </p:txBody>
      </p:sp>
    </p:spTree>
    <p:extLst>
      <p:ext uri="{BB962C8B-B14F-4D97-AF65-F5344CB8AC3E}">
        <p14:creationId xmlns:p14="http://schemas.microsoft.com/office/powerpoint/2010/main" val="3314449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F7527D56-13EA-15F6-0EE8-075557F14B39}"/>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64E8F23-9096-BB07-59E2-A56E2F657A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0E19932-3748-B970-1992-0517CEAD921D}"/>
              </a:ext>
            </a:extLst>
          </p:cNvPr>
          <p:cNvSpPr>
            <a:spLocks noGrp="1"/>
          </p:cNvSpPr>
          <p:nvPr>
            <p:ph type="title"/>
          </p:nvPr>
        </p:nvSpPr>
        <p:spPr>
          <a:xfrm>
            <a:off x="838200" y="365125"/>
            <a:ext cx="10515600" cy="1325563"/>
          </a:xfrm>
        </p:spPr>
        <p:txBody>
          <a:bodyPr>
            <a:normAutofit/>
          </a:bodyPr>
          <a:lstStyle/>
          <a:p>
            <a:r>
              <a:rPr lang="en-US" b="1" dirty="0"/>
              <a:t>Conclusion</a:t>
            </a:r>
          </a:p>
        </p:txBody>
      </p:sp>
      <p:sp>
        <p:nvSpPr>
          <p:cNvPr id="19" name="sketch line">
            <a:extLst>
              <a:ext uri="{FF2B5EF4-FFF2-40B4-BE49-F238E27FC236}">
                <a16:creationId xmlns:a16="http://schemas.microsoft.com/office/drawing/2014/main" id="{8CE5727C-00C0-1F08-580E-DB361AA87B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8A614149-FDAB-936D-306E-4186EFF4198E}"/>
              </a:ext>
            </a:extLst>
          </p:cNvPr>
          <p:cNvSpPr txBox="1"/>
          <p:nvPr/>
        </p:nvSpPr>
        <p:spPr>
          <a:xfrm>
            <a:off x="1176866" y="2323962"/>
            <a:ext cx="9237133" cy="1754326"/>
          </a:xfrm>
          <a:prstGeom prst="rect">
            <a:avLst/>
          </a:prstGeom>
          <a:noFill/>
        </p:spPr>
        <p:txBody>
          <a:bodyPr wrap="square" rtlCol="0">
            <a:spAutoFit/>
          </a:bodyPr>
          <a:lstStyle/>
          <a:p>
            <a:r>
              <a:rPr lang="en-US" dirty="0"/>
              <a:t>Between 2020 and 2023, rising home prices, higher mortgage rates, and constrained housing supply combined to significantly reduce homeownership affordability for median-income households in Metro Nashville, with uneven impacts across ZIP codes</a:t>
            </a:r>
          </a:p>
          <a:p>
            <a:endParaRPr lang="en-US" dirty="0"/>
          </a:p>
          <a:p>
            <a:r>
              <a:rPr lang="en-US" dirty="0"/>
              <a:t>Together, these findings highlight how multiple market forces not prices alone, shaped worsening housing affordability in Metro Nashville.</a:t>
            </a:r>
          </a:p>
        </p:txBody>
      </p:sp>
    </p:spTree>
    <p:extLst>
      <p:ext uri="{BB962C8B-B14F-4D97-AF65-F5344CB8AC3E}">
        <p14:creationId xmlns:p14="http://schemas.microsoft.com/office/powerpoint/2010/main" val="3434264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AF7"/>
        </a:solidFill>
        <a:effectLst/>
      </p:bgPr>
    </p:bg>
    <p:spTree>
      <p:nvGrpSpPr>
        <p:cNvPr id="1" name="">
          <a:extLst>
            <a:ext uri="{FF2B5EF4-FFF2-40B4-BE49-F238E27FC236}">
              <a16:creationId xmlns:a16="http://schemas.microsoft.com/office/drawing/2014/main" id="{56129134-68B0-D803-EB90-6CBB36DBD5ED}"/>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72F497DA-E1E0-88A0-E713-86FE6261C9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822C743-1514-89D4-2DAD-3E9F08CB440F}"/>
              </a:ext>
            </a:extLst>
          </p:cNvPr>
          <p:cNvSpPr>
            <a:spLocks noGrp="1"/>
          </p:cNvSpPr>
          <p:nvPr>
            <p:ph type="title"/>
          </p:nvPr>
        </p:nvSpPr>
        <p:spPr>
          <a:xfrm>
            <a:off x="838200" y="365125"/>
            <a:ext cx="10515600" cy="1325563"/>
          </a:xfrm>
        </p:spPr>
        <p:txBody>
          <a:bodyPr>
            <a:normAutofit/>
          </a:bodyPr>
          <a:lstStyle/>
          <a:p>
            <a:r>
              <a:rPr lang="en-US" b="1" dirty="0"/>
              <a:t>Q&amp;A</a:t>
            </a:r>
          </a:p>
        </p:txBody>
      </p:sp>
      <p:sp>
        <p:nvSpPr>
          <p:cNvPr id="19" name="sketch line">
            <a:extLst>
              <a:ext uri="{FF2B5EF4-FFF2-40B4-BE49-F238E27FC236}">
                <a16:creationId xmlns:a16="http://schemas.microsoft.com/office/drawing/2014/main" id="{F8977E18-51BF-1A23-DDB8-51F1B26B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TextBox 2">
            <a:extLst>
              <a:ext uri="{FF2B5EF4-FFF2-40B4-BE49-F238E27FC236}">
                <a16:creationId xmlns:a16="http://schemas.microsoft.com/office/drawing/2014/main" id="{717DC6DB-FFF7-A177-A3E3-A53D84FD998F}"/>
              </a:ext>
            </a:extLst>
          </p:cNvPr>
          <p:cNvSpPr txBox="1"/>
          <p:nvPr/>
        </p:nvSpPr>
        <p:spPr>
          <a:xfrm>
            <a:off x="4382000" y="2967335"/>
            <a:ext cx="3424952"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black"/>
                </a:solidFill>
                <a:effectLst/>
                <a:uLnTx/>
                <a:uFillTx/>
                <a:latin typeface="Aptos" panose="02110004020202020204"/>
                <a:ea typeface="+mn-ea"/>
                <a:cs typeface="+mn-cs"/>
              </a:rPr>
              <a:t>Thank you!</a:t>
            </a:r>
          </a:p>
        </p:txBody>
      </p:sp>
    </p:spTree>
    <p:extLst>
      <p:ext uri="{BB962C8B-B14F-4D97-AF65-F5344CB8AC3E}">
        <p14:creationId xmlns:p14="http://schemas.microsoft.com/office/powerpoint/2010/main" val="29603018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12383</TotalTime>
  <Words>2062</Words>
  <Application>Microsoft Office PowerPoint</Application>
  <PresentationFormat>Widescreen</PresentationFormat>
  <Paragraphs>220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Housing Affordability in Metro Nashville</vt:lpstr>
      <vt:lpstr>Purpose of This Analysis</vt:lpstr>
      <vt:lpstr>Research Questions</vt:lpstr>
      <vt:lpstr>About the data</vt:lpstr>
      <vt:lpstr>Metro Nashville Housing Market Snapshot</vt:lpstr>
      <vt:lpstr>Sale Price vs Income in Metro Nashville</vt:lpstr>
      <vt:lpstr>The Price-to-Income Gap in Metro Nashville</vt:lpstr>
      <vt:lpstr>Housing Supply Trends</vt:lpstr>
      <vt:lpstr>Rising Mortgage Rates Increased Borrowing Costs</vt:lpstr>
      <vt:lpstr>Higher Mortgage Rates Reduced Homeownership Affordability</vt:lpstr>
      <vt:lpstr>Affordability Pressures Varied Widely Across ZIP Codes</vt:lpstr>
      <vt:lpstr>Key Findings</vt:lpstr>
      <vt:lpstr>Limitations &amp; Next Steps</vt:lpstr>
      <vt:lpstr>Conclusion</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Luke Gaffney</dc:creator>
  <cp:lastModifiedBy>Luke Gaffney</cp:lastModifiedBy>
  <cp:revision>5</cp:revision>
  <dcterms:created xsi:type="dcterms:W3CDTF">2025-12-12T20:32:27Z</dcterms:created>
  <dcterms:modified xsi:type="dcterms:W3CDTF">2025-12-23T21:21:09Z</dcterms:modified>
</cp:coreProperties>
</file>